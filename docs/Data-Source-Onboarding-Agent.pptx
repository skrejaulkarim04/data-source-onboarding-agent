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82296" cy="13716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0"/>
            <a:ext cx="10515600" cy="2194560"/>
          </a:xfrm>
          <a:prstGeom prst="rect">
            <a:avLst/>
          </a:prstGeom>
          <a:noFill/>
        </p:spPr>
        <p:txBody>
          <a:bodyPr wrap="square" lIns="0" rIns="0" tIns="0" bIns="0">
            <a:spAutoFit/>
          </a:bodyPr>
          <a:lstStyle/>
          <a:p>
            <a:pPr>
              <a:spcAft>
                <a:spcPts val="1400"/>
              </a:spcAft>
            </a:pPr>
            <a:r>
              <a:rPr sz="4600" b="1">
                <a:solidFill>
                  <a:srgbClr val="E8EDF5"/>
                </a:solidFill>
                <a:latin typeface="Arial"/>
              </a:rPr>
              <a:t>Data Source Onboarding Agent</a:t>
            </a:r>
          </a:p>
          <a:p>
            <a:pPr>
              <a:spcAft>
                <a:spcPts val="0"/>
              </a:spcAft>
            </a:pPr>
            <a:r>
              <a:rPr sz="1900" b="0">
                <a:solidFill>
                  <a:srgbClr val="8896B0"/>
                </a:solidFill>
                <a:latin typeface="Arial"/>
              </a:rPr>
              <a:t>Plain English in. A validated, standards-compliant, versioned Python connector out.</a:t>
            </a:r>
          </a:p>
        </p:txBody>
      </p:sp>
      <p:sp>
        <p:nvSpPr>
          <p:cNvPr id="5" name="TextBox 4"/>
          <p:cNvSpPr txBox="1"/>
          <p:nvPr/>
        </p:nvSpPr>
        <p:spPr>
          <a:xfrm>
            <a:off x="685800" y="5943600"/>
            <a:ext cx="10515600" cy="457200"/>
          </a:xfrm>
          <a:prstGeom prst="rect">
            <a:avLst/>
          </a:prstGeom>
          <a:noFill/>
        </p:spPr>
        <p:txBody>
          <a:bodyPr wrap="square" lIns="0" rIns="0" tIns="0" bIns="0">
            <a:spAutoFit/>
          </a:bodyPr>
          <a:lstStyle/>
          <a:p>
            <a:pPr>
              <a:spcAft>
                <a:spcPts val="600"/>
              </a:spcAft>
            </a:pPr>
            <a:r>
              <a:rPr sz="1200" b="0">
                <a:solidFill>
                  <a:srgbClr val="4B5975"/>
                </a:solidFill>
                <a:latin typeface="Courier New"/>
              </a:rPr>
              <a:t>Natural language → spec → generated code → machine-checked → proven against a live database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BUSINESS OBJECTIVE</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Onboarding a data source is slow, and the cost is repetition</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Every new source is hand-written work</a:t>
            </a:r>
          </a:p>
          <a:p>
            <a:pPr>
              <a:spcAft>
                <a:spcPts val="1600"/>
              </a:spcAft>
            </a:pPr>
            <a:r>
              <a:rPr sz="1450" b="0">
                <a:solidFill>
                  <a:srgbClr val="8896B0"/>
                </a:solidFill>
                <a:latin typeface="Arial"/>
              </a:rPr>
              <a:t>A data engineer writes connection handling, retries, schema introspection and docsagain — the same five methods, slightly differently each time.</a:t>
            </a:r>
          </a:p>
          <a:p>
            <a:pPr>
              <a:spcAft>
                <a:spcPts val="300"/>
              </a:spcAft>
            </a:pPr>
            <a:r>
              <a:rPr sz="1700" b="1">
                <a:solidFill>
                  <a:srgbClr val="E8EDF5"/>
                </a:solidFill>
                <a:latin typeface="Arial"/>
              </a:rPr>
              <a:t>Consistency decays with headcount</a:t>
            </a:r>
          </a:p>
          <a:p>
            <a:pPr>
              <a:spcAft>
                <a:spcPts val="1600"/>
              </a:spcAft>
            </a:pPr>
            <a:r>
              <a:rPr sz="1450" b="0">
                <a:solidFill>
                  <a:srgbClr val="8896B0"/>
                </a:solidFill>
                <a:latin typeface="Arial"/>
              </a:rPr>
              <a:t>Ten engineers produce ten interpretations of 'read-only' and 'secrets from the environment'. Review catches some of it, some of the time.</a:t>
            </a:r>
          </a:p>
          <a:p>
            <a:pPr>
              <a:spcAft>
                <a:spcPts val="300"/>
              </a:spcAft>
            </a:pPr>
            <a:r>
              <a:rPr sz="1700" b="1">
                <a:solidFill>
                  <a:srgbClr val="E8EDF5"/>
                </a:solidFill>
                <a:latin typeface="Arial"/>
              </a:rPr>
              <a:t>The standards are real, and unevenly applied</a:t>
            </a:r>
          </a:p>
          <a:p>
            <a:pPr>
              <a:spcAft>
                <a:spcPts val="1600"/>
              </a:spcAft>
            </a:pPr>
            <a:r>
              <a:rPr sz="1450" b="0">
                <a:solidFill>
                  <a:srgbClr val="8896B0"/>
                </a:solidFill>
                <a:latin typeface="Arial"/>
              </a:rPr>
              <a:t>No hardcoded credentials, no dynamic SQL, typed, documented. Everyone agrees; nothing enforces it until code review, which is a person having a bad afternoon.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BUSINESS OBJECTIVE</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What this changes</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48840"/>
            <a:ext cx="3413760" cy="1828800"/>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468880"/>
            <a:ext cx="2901696" cy="914400"/>
          </a:xfrm>
          <a:prstGeom prst="rect">
            <a:avLst/>
          </a:prstGeom>
          <a:noFill/>
        </p:spPr>
        <p:txBody>
          <a:bodyPr wrap="square" lIns="0" rIns="0" tIns="0" bIns="0">
            <a:spAutoFit/>
          </a:bodyPr>
          <a:lstStyle/>
          <a:p>
            <a:pPr>
              <a:spcAft>
                <a:spcPts val="600"/>
              </a:spcAft>
            </a:pPr>
            <a:r>
              <a:rPr sz="4000" b="1">
                <a:solidFill>
                  <a:srgbClr val="34D399"/>
                </a:solidFill>
                <a:latin typeface="Arial"/>
              </a:rPr>
              <a:t>Minutes</a:t>
            </a:r>
          </a:p>
        </p:txBody>
      </p:sp>
      <p:sp>
        <p:nvSpPr>
          <p:cNvPr id="8" name="TextBox 7"/>
          <p:cNvSpPr txBox="1"/>
          <p:nvPr/>
        </p:nvSpPr>
        <p:spPr>
          <a:xfrm>
            <a:off x="941832" y="3246120"/>
            <a:ext cx="2901696" cy="640080"/>
          </a:xfrm>
          <a:prstGeom prst="rect">
            <a:avLst/>
          </a:prstGeom>
          <a:noFill/>
        </p:spPr>
        <p:txBody>
          <a:bodyPr wrap="square" lIns="0" rIns="0" tIns="0" bIns="0">
            <a:spAutoFit/>
          </a:bodyPr>
          <a:lstStyle/>
          <a:p>
            <a:pPr>
              <a:spcAft>
                <a:spcPts val="600"/>
              </a:spcAft>
            </a:pPr>
            <a:r>
              <a:rPr sz="1250" b="0">
                <a:solidFill>
                  <a:srgbClr val="8896B0"/>
                </a:solidFill>
                <a:latin typeface="Arial"/>
              </a:rPr>
              <a:t>from request to reviewed connector, instead of days</a:t>
            </a:r>
          </a:p>
        </p:txBody>
      </p:sp>
      <p:sp>
        <p:nvSpPr>
          <p:cNvPr id="9" name="Rectangle 8"/>
          <p:cNvSpPr/>
          <p:nvPr/>
        </p:nvSpPr>
        <p:spPr>
          <a:xfrm>
            <a:off x="4373880" y="2148840"/>
            <a:ext cx="3413760" cy="1828800"/>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9912" y="2468880"/>
            <a:ext cx="2901696" cy="914400"/>
          </a:xfrm>
          <a:prstGeom prst="rect">
            <a:avLst/>
          </a:prstGeom>
          <a:noFill/>
        </p:spPr>
        <p:txBody>
          <a:bodyPr wrap="square" lIns="0" rIns="0" tIns="0" bIns="0">
            <a:spAutoFit/>
          </a:bodyPr>
          <a:lstStyle/>
          <a:p>
            <a:pPr>
              <a:spcAft>
                <a:spcPts val="600"/>
              </a:spcAft>
            </a:pPr>
            <a:r>
              <a:rPr sz="4000" b="1">
                <a:solidFill>
                  <a:srgbClr val="60A5FA"/>
                </a:solidFill>
                <a:latin typeface="Arial"/>
              </a:rPr>
              <a:t>100%</a:t>
            </a:r>
          </a:p>
        </p:txBody>
      </p:sp>
      <p:sp>
        <p:nvSpPr>
          <p:cNvPr id="11" name="TextBox 10"/>
          <p:cNvSpPr txBox="1"/>
          <p:nvPr/>
        </p:nvSpPr>
        <p:spPr>
          <a:xfrm>
            <a:off x="4629912" y="3246120"/>
            <a:ext cx="2901696" cy="640080"/>
          </a:xfrm>
          <a:prstGeom prst="rect">
            <a:avLst/>
          </a:prstGeom>
          <a:noFill/>
        </p:spPr>
        <p:txBody>
          <a:bodyPr wrap="square" lIns="0" rIns="0" tIns="0" bIns="0">
            <a:spAutoFit/>
          </a:bodyPr>
          <a:lstStyle/>
          <a:p>
            <a:pPr>
              <a:spcAft>
                <a:spcPts val="600"/>
              </a:spcAft>
            </a:pPr>
            <a:r>
              <a:rPr sz="1250" b="0">
                <a:solidFill>
                  <a:srgbClr val="8896B0"/>
                </a:solidFill>
                <a:latin typeface="Arial"/>
              </a:rPr>
              <a:t>of generated connectors meet all 13 standards, or are rejected</a:t>
            </a:r>
          </a:p>
        </p:txBody>
      </p:sp>
      <p:sp>
        <p:nvSpPr>
          <p:cNvPr id="12" name="Rectangle 11"/>
          <p:cNvSpPr/>
          <p:nvPr/>
        </p:nvSpPr>
        <p:spPr>
          <a:xfrm>
            <a:off x="8061960" y="2148840"/>
            <a:ext cx="3413760" cy="1828800"/>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7992" y="2468880"/>
            <a:ext cx="2901696" cy="914400"/>
          </a:xfrm>
          <a:prstGeom prst="rect">
            <a:avLst/>
          </a:prstGeom>
          <a:noFill/>
        </p:spPr>
        <p:txBody>
          <a:bodyPr wrap="square" lIns="0" rIns="0" tIns="0" bIns="0">
            <a:spAutoFit/>
          </a:bodyPr>
          <a:lstStyle/>
          <a:p>
            <a:pPr>
              <a:spcAft>
                <a:spcPts val="600"/>
              </a:spcAft>
            </a:pPr>
            <a:r>
              <a:rPr sz="4000" b="1">
                <a:solidFill>
                  <a:srgbClr val="FBBF24"/>
                </a:solidFill>
                <a:latin typeface="Arial"/>
              </a:rPr>
              <a:t>Every artifact</a:t>
            </a:r>
          </a:p>
        </p:txBody>
      </p:sp>
      <p:sp>
        <p:nvSpPr>
          <p:cNvPr id="14" name="TextBox 13"/>
          <p:cNvSpPr txBox="1"/>
          <p:nvPr/>
        </p:nvSpPr>
        <p:spPr>
          <a:xfrm>
            <a:off x="8317992" y="3246120"/>
            <a:ext cx="2901696" cy="640080"/>
          </a:xfrm>
          <a:prstGeom prst="rect">
            <a:avLst/>
          </a:prstGeom>
          <a:noFill/>
        </p:spPr>
        <p:txBody>
          <a:bodyPr wrap="square" lIns="0" rIns="0" tIns="0" bIns="0">
            <a:spAutoFit/>
          </a:bodyPr>
          <a:lstStyle/>
          <a:p>
            <a:pPr>
              <a:spcAft>
                <a:spcPts val="600"/>
              </a:spcAft>
            </a:pPr>
            <a:r>
              <a:rPr sz="1250" b="0">
                <a:solidFill>
                  <a:srgbClr val="8896B0"/>
                </a:solidFill>
                <a:latin typeface="Arial"/>
              </a:rPr>
              <a:t>traceable to the request that produced it</a:t>
            </a:r>
          </a:p>
        </p:txBody>
      </p:sp>
      <p:sp>
        <p:nvSpPr>
          <p:cNvPr id="15" name="TextBox 14"/>
          <p:cNvSpPr txBox="1"/>
          <p:nvPr/>
        </p:nvSpPr>
        <p:spPr>
          <a:xfrm>
            <a:off x="685800" y="4572000"/>
            <a:ext cx="10789920" cy="1097280"/>
          </a:xfrm>
          <a:prstGeom prst="rect">
            <a:avLst/>
          </a:prstGeom>
          <a:noFill/>
        </p:spPr>
        <p:txBody>
          <a:bodyPr wrap="square" lIns="0" rIns="0" tIns="0" bIns="0">
            <a:spAutoFit/>
          </a:bodyPr>
          <a:lstStyle/>
          <a:p>
            <a:pPr>
              <a:spcAft>
                <a:spcPts val="600"/>
              </a:spcAft>
            </a:pPr>
            <a:r>
              <a:rPr sz="1500" b="0">
                <a:solidFill>
                  <a:srgbClr val="8896B0"/>
                </a:solidFill>
                <a:latin typeface="Arial"/>
              </a:rPr>
              <a:t>The goal is not to remove the engineer. It is to remove the part of the job that is identical every time, and to make the standards structural rather than remembered.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BUSINESS OBJECTIVE</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Where the work actually moves</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85800" y="2011680"/>
          <a:ext cx="10789920" cy="365760"/>
        </p:xfrm>
        <a:graphic>
          <a:graphicData uri="http://schemas.openxmlformats.org/drawingml/2006/table">
            <a:tbl>
              <a:tblPr firstRow="1" bandRow="1">
                <a:tableStyleId>{5C22544A-7EE6-4342-B048-85BDC9FD1C3A}</a:tableStyleId>
              </a:tblPr>
              <a:tblGrid>
                <a:gridCol w="3596640"/>
                <a:gridCol w="3596640"/>
                <a:gridCol w="3596640"/>
              </a:tblGrid>
              <a:tr h="52251">
                <a:tc>
                  <a:txBody>
                    <a:bodyPr/>
                    <a:lstStyle/>
                    <a:p>
                      <a:r>
                        <a:rPr sz="1200" b="1">
                          <a:solidFill>
                            <a:srgbClr val="8896B0"/>
                          </a:solidFill>
                          <a:latin typeface="Courier New"/>
                        </a:rPr>
                        <a:t>Step in onboarding</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200" b="1">
                          <a:solidFill>
                            <a:srgbClr val="8896B0"/>
                          </a:solidFill>
                          <a:latin typeface="Courier New"/>
                        </a:rPr>
                        <a:t>Today</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200" b="1">
                          <a:solidFill>
                            <a:srgbClr val="8896B0"/>
                          </a:solidFill>
                          <a:latin typeface="Courier New"/>
                        </a:rPr>
                        <a:t>With the agent</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Capture the requirement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A ticket, then a clarifying thread over days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Plain English, questions answered in the same session</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Write the connector</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Hand-written per source, per engineer</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Rendered from a reviewed spec, identical every time</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Enforce the standards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Code review, after the code exists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13 machine checks, before it can be accepted</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Prove it connects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Run it locally and hope the target matches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Sandboxed test against the real database, recorded</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Write the docs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Written last, when enthusiasm is lowest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Generated with the code, never out of date</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4">
                <a:tc>
                  <a:txBody>
                    <a:bodyPr/>
                    <a:lstStyle/>
                    <a:p>
                      <a:r>
                        <a:rPr sz="1300" b="1">
                          <a:solidFill>
                            <a:srgbClr val="E8EDF5"/>
                          </a:solidFill>
                          <a:latin typeface="Arial"/>
                        </a:rPr>
                        <a:t>Answer “why is this in production?”</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Ask whoever wrote it, if they still work here</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A manifest chaining request → spec → template → checksum</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bl>
          </a:graphicData>
        </a:graphic>
      </p:graphicFrame>
      <p:sp>
        <p:nvSpPr>
          <p:cNvPr id="7" name="TextBox 6"/>
          <p:cNvSpPr txBox="1"/>
          <p:nvPr/>
        </p:nvSpPr>
        <p:spPr>
          <a:xfrm>
            <a:off x="685800" y="594360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The engineer stops writing the same five methods and starts reviewing a diff.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BUSINESS OBJECTIVE</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What each stakeholder gets</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The team requesting the source</a:t>
            </a:r>
          </a:p>
          <a:p>
            <a:pPr>
              <a:spcAft>
                <a:spcPts val="1600"/>
              </a:spcAft>
            </a:pPr>
            <a:r>
              <a:rPr sz="1450" b="0">
                <a:solidFill>
                  <a:srgbClr val="8896B0"/>
                </a:solidFill>
                <a:latin typeface="Arial"/>
              </a:rPr>
              <a:t>Self-service. They describe what they need in their own words instead of writing a ticket and waiting in a queue — and they find out in the same session if their request is missing something.</a:t>
            </a:r>
          </a:p>
          <a:p>
            <a:pPr>
              <a:spcAft>
                <a:spcPts val="300"/>
              </a:spcAft>
            </a:pPr>
            <a:r>
              <a:rPr sz="1700" b="1">
                <a:solidFill>
                  <a:srgbClr val="E8EDF5"/>
                </a:solidFill>
                <a:latin typeface="Arial"/>
              </a:rPr>
              <a:t>Data engineering</a:t>
            </a:r>
          </a:p>
          <a:p>
            <a:pPr>
              <a:spcAft>
                <a:spcPts val="1600"/>
              </a:spcAft>
            </a:pPr>
            <a:r>
              <a:rPr sz="1450" b="0">
                <a:solidFill>
                  <a:srgbClr val="8896B0"/>
                </a:solidFill>
                <a:latin typeface="Arial"/>
              </a:rPr>
              <a:t>The repetitive half of the job disappears; the judgement half remains. Reviewing a generated connector against a spec is faster and more reliable than writing one from scratch, and the review is about fit, not style.</a:t>
            </a:r>
          </a:p>
          <a:p>
            <a:pPr>
              <a:spcAft>
                <a:spcPts val="300"/>
              </a:spcAft>
            </a:pPr>
            <a:r>
              <a:rPr sz="1700" b="1">
                <a:solidFill>
                  <a:srgbClr val="E8EDF5"/>
                </a:solidFill>
                <a:latin typeface="Arial"/>
              </a:rPr>
              <a:t>Security and compliance</a:t>
            </a:r>
          </a:p>
          <a:p>
            <a:pPr>
              <a:spcAft>
                <a:spcPts val="1600"/>
              </a:spcAft>
            </a:pPr>
            <a:r>
              <a:rPr sz="1450" b="0">
                <a:solidFill>
                  <a:srgbClr val="8896B0"/>
                </a:solidFill>
                <a:latin typeface="Arial"/>
              </a:rPr>
              <a:t>Credentials cannot reach the code — two checks make that a rejection rather than a review comment. Read-only is the default. Every artifact records which environment variables it needs, by name only.</a:t>
            </a:r>
          </a:p>
          <a:p>
            <a:pPr>
              <a:spcAft>
                <a:spcPts val="300"/>
              </a:spcAft>
            </a:pPr>
            <a:r>
              <a:rPr sz="1700" b="1">
                <a:solidFill>
                  <a:srgbClr val="E8EDF5"/>
                </a:solidFill>
                <a:latin typeface="Arial"/>
              </a:rPr>
              <a:t>Platform and audit</a:t>
            </a:r>
          </a:p>
          <a:p>
            <a:pPr>
              <a:spcAft>
                <a:spcPts val="1600"/>
              </a:spcAft>
            </a:pPr>
            <a:r>
              <a:rPr sz="1450" b="0">
                <a:solidFill>
                  <a:srgbClr val="8896B0"/>
                </a:solidFill>
                <a:latin typeface="Arial"/>
              </a:rPr>
              <a:t>Every connector in production is traceable to the sentence that requested it, the template version that rendered it, and the checksum of exactly what shipped. That turns a six-month-later question into a lookup.</a:t>
            </a:r>
          </a:p>
        </p:txBody>
      </p:sp>
      <p:sp>
        <p:nvSpPr>
          <p:cNvPr id="7" name="TextBox 6"/>
          <p:cNvSpPr txBox="1"/>
          <p:nvPr/>
        </p:nvSpPr>
        <p:spPr>
          <a:xfrm>
            <a:off x="685800" y="598932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Adding a new SQL dialect is a config entry, not a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CORE IDEA</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The tension — and how it is resolved</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The tension</a:t>
            </a:r>
          </a:p>
          <a:p>
            <a:pPr>
              <a:spcAft>
                <a:spcPts val="1600"/>
              </a:spcAft>
            </a:pPr>
            <a:r>
              <a:rPr sz="1450" b="0">
                <a:solidFill>
                  <a:srgbClr val="8896B0"/>
                </a:solidFill>
                <a:latin typeface="Arial"/>
              </a:rPr>
              <a:t>Free-form English is unpredictable. Production code must be guaranteed. Letting a language model write the connector puts an unreliable component in the one place reliability is non-negotiable.</a:t>
            </a:r>
          </a:p>
          <a:p>
            <a:pPr>
              <a:spcAft>
                <a:spcPts val="300"/>
              </a:spcAft>
            </a:pPr>
            <a:r>
              <a:rPr sz="1700" b="1">
                <a:solidFill>
                  <a:srgbClr val="E8EDF5"/>
                </a:solidFill>
                <a:latin typeface="Arial"/>
              </a:rPr>
              <a:t>The resolution: the model never writes the code</a:t>
            </a:r>
          </a:p>
          <a:p>
            <a:pPr>
              <a:spcAft>
                <a:spcPts val="1600"/>
              </a:spcAft>
            </a:pPr>
            <a:r>
              <a:rPr sz="1450" b="0">
                <a:solidFill>
                  <a:srgbClr val="8896B0"/>
                </a:solidFill>
                <a:latin typeface="Arial"/>
              </a:rPr>
              <a:t>It fills in a structured spec — schema-enforced, so it selects from closed sets rather than inventing strings. A Jinja2 template renders the code, deterministically. Same spec in, same bytes out.</a:t>
            </a:r>
          </a:p>
          <a:p>
            <a:pPr>
              <a:spcAft>
                <a:spcPts val="300"/>
              </a:spcAft>
            </a:pPr>
            <a:r>
              <a:rPr sz="1700" b="1">
                <a:solidFill>
                  <a:srgbClr val="E8EDF5"/>
                </a:solidFill>
                <a:latin typeface="Arial"/>
              </a:rPr>
              <a:t>Reliability comes from constraint, not from prompting</a:t>
            </a:r>
          </a:p>
          <a:p>
            <a:pPr>
              <a:spcAft>
                <a:spcPts val="1600"/>
              </a:spcAft>
            </a:pPr>
            <a:r>
              <a:rPr sz="1450" b="0">
                <a:solidFill>
                  <a:srgbClr val="8896B0"/>
                </a:solidFill>
                <a:latin typeface="Arial"/>
              </a:rPr>
              <a:t>The model does what models are good at — reading intent from messy language. The template does what templates are good at — producing exactly the same thing every time.</a:t>
            </a:r>
          </a:p>
        </p:txBody>
      </p:sp>
      <p:sp>
        <p:nvSpPr>
          <p:cNvPr id="7" name="TextBox 6"/>
          <p:cNvSpPr txBox="1"/>
          <p:nvPr/>
        </p:nvSpPr>
        <p:spPr>
          <a:xfrm>
            <a:off x="685800" y="598932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This is the single design decision the rest of the project follows from.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ARCHITECTURE</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2800" b="1">
                <a:solidFill>
                  <a:srgbClr val="E8EDF5"/>
                </a:solidFill>
                <a:latin typeface="Arial"/>
              </a:rPr>
              <a:t>One request, five stages</a:t>
            </a:r>
          </a:p>
        </p:txBody>
      </p:sp>
      <p:sp>
        <p:nvSpPr>
          <p:cNvPr id="5" name="TextBox 4"/>
          <p:cNvSpPr txBox="1"/>
          <p:nvPr/>
        </p:nvSpPr>
        <p:spPr>
          <a:xfrm>
            <a:off x="795528" y="1847088"/>
            <a:ext cx="1792224" cy="274320"/>
          </a:xfrm>
          <a:prstGeom prst="rect">
            <a:avLst/>
          </a:prstGeom>
          <a:noFill/>
        </p:spPr>
        <p:txBody>
          <a:bodyPr wrap="square" lIns="0" rIns="0" tIns="0" bIns="0">
            <a:spAutoFit/>
          </a:bodyPr>
          <a:lstStyle/>
          <a:p>
            <a:pPr>
              <a:spcAft>
                <a:spcPts val="600"/>
              </a:spcAft>
            </a:pPr>
            <a:r>
              <a:rPr sz="1050" b="0">
                <a:solidFill>
                  <a:srgbClr val="4B5975"/>
                </a:solidFill>
                <a:latin typeface="Courier New"/>
              </a:rPr>
              <a:t>POST /api/requests</a:t>
            </a:r>
          </a:p>
        </p:txBody>
      </p:sp>
      <p:sp>
        <p:nvSpPr>
          <p:cNvPr id="6" name="Rectangle 5"/>
          <p:cNvSpPr/>
          <p:nvPr/>
        </p:nvSpPr>
        <p:spPr>
          <a:xfrm>
            <a:off x="685800" y="2249424"/>
            <a:ext cx="2011680" cy="1170432"/>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377440"/>
            <a:ext cx="1792224" cy="310896"/>
          </a:xfrm>
          <a:prstGeom prst="rect">
            <a:avLst/>
          </a:prstGeom>
          <a:noFill/>
        </p:spPr>
        <p:txBody>
          <a:bodyPr wrap="square" lIns="0" rIns="0" tIns="0" bIns="0">
            <a:spAutoFit/>
          </a:bodyPr>
          <a:lstStyle/>
          <a:p>
            <a:pPr algn="ctr">
              <a:spcAft>
                <a:spcPts val="600"/>
              </a:spcAft>
            </a:pPr>
            <a:r>
              <a:rPr sz="1700" b="1">
                <a:solidFill>
                  <a:srgbClr val="E8EDF5"/>
                </a:solidFill>
                <a:latin typeface="Arial"/>
              </a:rPr>
              <a:t>Extract</a:t>
            </a:r>
          </a:p>
        </p:txBody>
      </p:sp>
      <p:sp>
        <p:nvSpPr>
          <p:cNvPr id="8" name="TextBox 7"/>
          <p:cNvSpPr txBox="1"/>
          <p:nvPr/>
        </p:nvSpPr>
        <p:spPr>
          <a:xfrm>
            <a:off x="795528" y="2743200"/>
            <a:ext cx="1792224" cy="548640"/>
          </a:xfrm>
          <a:prstGeom prst="rect">
            <a:avLst/>
          </a:prstGeom>
          <a:noFill/>
        </p:spPr>
        <p:txBody>
          <a:bodyPr wrap="square" lIns="0" rIns="0" tIns="0" bIns="0">
            <a:spAutoFit/>
          </a:bodyPr>
          <a:lstStyle/>
          <a:p>
            <a:pPr algn="ctr">
              <a:spcAft>
                <a:spcPts val="600"/>
              </a:spcAft>
            </a:pPr>
            <a:r>
              <a:rPr sz="1050" b="0">
                <a:solidFill>
                  <a:srgbClr val="8896B0"/>
                </a:solidFill>
                <a:latin typeface="Courier New"/>
              </a:rPr>
              <a:t>SpecExtractor</a:t>
            </a:r>
          </a:p>
          <a:p>
            <a:pPr algn="ctr">
              <a:spcAft>
                <a:spcPts val="0"/>
              </a:spcAft>
            </a:pPr>
            <a:r>
              <a:rPr sz="1050" b="0">
                <a:solidFill>
                  <a:srgbClr val="8896B0"/>
                </a:solidFill>
                <a:latin typeface="Courier New"/>
              </a:rPr>
              <a:t>.extract()</a:t>
            </a:r>
          </a:p>
        </p:txBody>
      </p:sp>
      <p:sp>
        <p:nvSpPr>
          <p:cNvPr id="9" name="TextBox 8"/>
          <p:cNvSpPr txBox="1"/>
          <p:nvPr/>
        </p:nvSpPr>
        <p:spPr>
          <a:xfrm>
            <a:off x="795528" y="3547872"/>
            <a:ext cx="1792224" cy="292608"/>
          </a:xfrm>
          <a:prstGeom prst="rect">
            <a:avLst/>
          </a:prstGeom>
          <a:noFill/>
        </p:spPr>
        <p:txBody>
          <a:bodyPr wrap="square" lIns="0" rIns="0" tIns="0" bIns="0">
            <a:spAutoFit/>
          </a:bodyPr>
          <a:lstStyle/>
          <a:p>
            <a:pPr algn="ctr">
              <a:spcAft>
                <a:spcPts val="600"/>
              </a:spcAft>
            </a:pPr>
            <a:r>
              <a:rPr sz="1050" b="0">
                <a:solidFill>
                  <a:srgbClr val="4B5975"/>
                </a:solidFill>
                <a:latin typeface="Courier New"/>
              </a:rPr>
              <a:t>SpecDraft + questions</a:t>
            </a:r>
          </a:p>
        </p:txBody>
      </p:sp>
      <p:cxnSp>
        <p:nvCxnSpPr>
          <p:cNvPr id="10" name="Connector 9"/>
          <p:cNvCxnSpPr/>
          <p:nvPr/>
        </p:nvCxnSpPr>
        <p:spPr>
          <a:xfrm>
            <a:off x="2715768" y="2834640"/>
            <a:ext cx="146304" cy="0"/>
          </a:xfrm>
          <a:prstGeom prst="line">
            <a:avLst/>
          </a:prstGeom>
          <a:ln w="19050">
            <a:solidFill>
              <a:srgbClr val="8896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91640" y="3895344"/>
            <a:ext cx="0" cy="676656"/>
          </a:xfrm>
          <a:prstGeom prst="line">
            <a:avLst/>
          </a:prstGeom>
          <a:ln w="12700">
            <a:solidFill>
              <a:srgbClr val="1F2A40"/>
            </a:solidFill>
            <a:prstDash val="sysDot"/>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 y="4572000"/>
            <a:ext cx="2011680" cy="566928"/>
          </a:xfrm>
          <a:prstGeom prst="roundRect">
            <a:avLst>
              <a:gd name="adj" fmla="val 18000"/>
            </a:avLst>
          </a:prstGeom>
          <a:noFill/>
          <a:ln w="1905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600"/>
              </a:spcAft>
            </a:pPr>
            <a:r>
              <a:rPr sz="1200" b="1">
                <a:solidFill>
                  <a:srgbClr val="60A5FA"/>
                </a:solidFill>
                <a:latin typeface="Arial"/>
              </a:rPr>
              <a:t>always — 1 call</a:t>
            </a:r>
          </a:p>
        </p:txBody>
      </p:sp>
      <p:sp>
        <p:nvSpPr>
          <p:cNvPr id="13" name="TextBox 12"/>
          <p:cNvSpPr txBox="1"/>
          <p:nvPr/>
        </p:nvSpPr>
        <p:spPr>
          <a:xfrm>
            <a:off x="2990088" y="1847088"/>
            <a:ext cx="1792224" cy="274320"/>
          </a:xfrm>
          <a:prstGeom prst="rect">
            <a:avLst/>
          </a:prstGeom>
          <a:noFill/>
        </p:spPr>
        <p:txBody>
          <a:bodyPr wrap="square" lIns="0" rIns="0" tIns="0" bIns="0">
            <a:spAutoFit/>
          </a:bodyPr>
          <a:lstStyle/>
          <a:p>
            <a:pPr>
              <a:spcAft>
                <a:spcPts val="600"/>
              </a:spcAft>
            </a:pPr>
            <a:r>
              <a:rPr sz="1050" b="0">
                <a:solidFill>
                  <a:srgbClr val="4B5975"/>
                </a:solidFill>
                <a:latin typeface="Courier New"/>
              </a:rPr>
              <a:t>POST …/answers</a:t>
            </a:r>
          </a:p>
        </p:txBody>
      </p:sp>
      <p:sp>
        <p:nvSpPr>
          <p:cNvPr id="14" name="Rectangle 13"/>
          <p:cNvSpPr/>
          <p:nvPr/>
        </p:nvSpPr>
        <p:spPr>
          <a:xfrm>
            <a:off x="2880360" y="2249424"/>
            <a:ext cx="2011680" cy="1170432"/>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377440"/>
            <a:ext cx="1792224" cy="310896"/>
          </a:xfrm>
          <a:prstGeom prst="rect">
            <a:avLst/>
          </a:prstGeom>
          <a:noFill/>
        </p:spPr>
        <p:txBody>
          <a:bodyPr wrap="square" lIns="0" rIns="0" tIns="0" bIns="0">
            <a:spAutoFit/>
          </a:bodyPr>
          <a:lstStyle/>
          <a:p>
            <a:pPr algn="ctr">
              <a:spcAft>
                <a:spcPts val="600"/>
              </a:spcAft>
            </a:pPr>
            <a:r>
              <a:rPr sz="1700" b="1">
                <a:solidFill>
                  <a:srgbClr val="E8EDF5"/>
                </a:solidFill>
                <a:latin typeface="Arial"/>
              </a:rPr>
              <a:t>Refine</a:t>
            </a:r>
          </a:p>
        </p:txBody>
      </p:sp>
      <p:sp>
        <p:nvSpPr>
          <p:cNvPr id="16" name="TextBox 15"/>
          <p:cNvSpPr txBox="1"/>
          <p:nvPr/>
        </p:nvSpPr>
        <p:spPr>
          <a:xfrm>
            <a:off x="2990088" y="2743200"/>
            <a:ext cx="1792224" cy="548640"/>
          </a:xfrm>
          <a:prstGeom prst="rect">
            <a:avLst/>
          </a:prstGeom>
          <a:noFill/>
        </p:spPr>
        <p:txBody>
          <a:bodyPr wrap="square" lIns="0" rIns="0" tIns="0" bIns="0">
            <a:spAutoFit/>
          </a:bodyPr>
          <a:lstStyle/>
          <a:p>
            <a:pPr algn="ctr">
              <a:spcAft>
                <a:spcPts val="600"/>
              </a:spcAft>
            </a:pPr>
            <a:r>
              <a:rPr sz="1050" b="0">
                <a:solidFill>
                  <a:srgbClr val="8896B0"/>
                </a:solidFill>
                <a:latin typeface="Courier New"/>
              </a:rPr>
              <a:t>SpecExtractor</a:t>
            </a:r>
          </a:p>
          <a:p>
            <a:pPr algn="ctr">
              <a:spcAft>
                <a:spcPts val="0"/>
              </a:spcAft>
            </a:pPr>
            <a:r>
              <a:rPr sz="1050" b="0">
                <a:solidFill>
                  <a:srgbClr val="8896B0"/>
                </a:solidFill>
                <a:latin typeface="Courier New"/>
              </a:rPr>
              <a:t>.refine()</a:t>
            </a:r>
          </a:p>
        </p:txBody>
      </p:sp>
      <p:sp>
        <p:nvSpPr>
          <p:cNvPr id="17" name="TextBox 16"/>
          <p:cNvSpPr txBox="1"/>
          <p:nvPr/>
        </p:nvSpPr>
        <p:spPr>
          <a:xfrm>
            <a:off x="2990088" y="3547872"/>
            <a:ext cx="1792224" cy="292608"/>
          </a:xfrm>
          <a:prstGeom prst="rect">
            <a:avLst/>
          </a:prstGeom>
          <a:noFill/>
        </p:spPr>
        <p:txBody>
          <a:bodyPr wrap="square" lIns="0" rIns="0" tIns="0" bIns="0">
            <a:spAutoFit/>
          </a:bodyPr>
          <a:lstStyle/>
          <a:p>
            <a:pPr algn="ctr">
              <a:spcAft>
                <a:spcPts val="600"/>
              </a:spcAft>
            </a:pPr>
            <a:r>
              <a:rPr sz="1050" b="0">
                <a:solidFill>
                  <a:srgbClr val="4B5975"/>
                </a:solidFill>
                <a:latin typeface="Courier New"/>
              </a:rPr>
              <a:t>SpecDraft (complete)</a:t>
            </a:r>
          </a:p>
        </p:txBody>
      </p:sp>
      <p:cxnSp>
        <p:nvCxnSpPr>
          <p:cNvPr id="18" name="Connector 17"/>
          <p:cNvCxnSpPr/>
          <p:nvPr/>
        </p:nvCxnSpPr>
        <p:spPr>
          <a:xfrm>
            <a:off x="4910328" y="2834640"/>
            <a:ext cx="146304" cy="0"/>
          </a:xfrm>
          <a:prstGeom prst="line">
            <a:avLst/>
          </a:prstGeom>
          <a:ln w="19050">
            <a:solidFill>
              <a:srgbClr val="8896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86200" y="3895344"/>
            <a:ext cx="0" cy="676656"/>
          </a:xfrm>
          <a:prstGeom prst="line">
            <a:avLst/>
          </a:prstGeom>
          <a:ln w="12700">
            <a:solidFill>
              <a:srgbClr val="1F2A40"/>
            </a:solidFill>
            <a:prstDash val="sysDot"/>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880360" y="4572000"/>
            <a:ext cx="2011680" cy="566928"/>
          </a:xfrm>
          <a:prstGeom prst="roundRect">
            <a:avLst>
              <a:gd name="adj" fmla="val 18000"/>
            </a:avLst>
          </a:prstGeom>
          <a:noFill/>
          <a:ln w="12700">
            <a:solidFill>
              <a:srgbClr val="4B59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600"/>
              </a:spcAft>
            </a:pPr>
            <a:r>
              <a:rPr sz="1200" b="0">
                <a:solidFill>
                  <a:srgbClr val="4B5975"/>
                </a:solidFill>
                <a:latin typeface="Arial"/>
              </a:rPr>
              <a:t>never</a:t>
            </a:r>
          </a:p>
        </p:txBody>
      </p:sp>
      <p:sp>
        <p:nvSpPr>
          <p:cNvPr id="21" name="TextBox 20"/>
          <p:cNvSpPr txBox="1"/>
          <p:nvPr/>
        </p:nvSpPr>
        <p:spPr>
          <a:xfrm>
            <a:off x="5184648" y="1847088"/>
            <a:ext cx="1792224" cy="274320"/>
          </a:xfrm>
          <a:prstGeom prst="rect">
            <a:avLst/>
          </a:prstGeom>
          <a:noFill/>
        </p:spPr>
        <p:txBody>
          <a:bodyPr wrap="square" lIns="0" rIns="0" tIns="0" bIns="0">
            <a:spAutoFit/>
          </a:bodyPr>
          <a:lstStyle/>
          <a:p>
            <a:pPr>
              <a:spcAft>
                <a:spcPts val="600"/>
              </a:spcAft>
            </a:pPr>
            <a:r>
              <a:rPr sz="1050" b="0">
                <a:solidFill>
                  <a:srgbClr val="4B5975"/>
                </a:solidFill>
                <a:latin typeface="Courier New"/>
              </a:rPr>
              <a:t>POST …/generate</a:t>
            </a:r>
          </a:p>
        </p:txBody>
      </p:sp>
      <p:sp>
        <p:nvSpPr>
          <p:cNvPr id="22" name="Rectangle 21"/>
          <p:cNvSpPr/>
          <p:nvPr/>
        </p:nvSpPr>
        <p:spPr>
          <a:xfrm>
            <a:off x="5074920" y="2249424"/>
            <a:ext cx="2011680" cy="1170432"/>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84648" y="2377440"/>
            <a:ext cx="1792224" cy="310896"/>
          </a:xfrm>
          <a:prstGeom prst="rect">
            <a:avLst/>
          </a:prstGeom>
          <a:noFill/>
        </p:spPr>
        <p:txBody>
          <a:bodyPr wrap="square" lIns="0" rIns="0" tIns="0" bIns="0">
            <a:spAutoFit/>
          </a:bodyPr>
          <a:lstStyle/>
          <a:p>
            <a:pPr algn="ctr">
              <a:spcAft>
                <a:spcPts val="600"/>
              </a:spcAft>
            </a:pPr>
            <a:r>
              <a:rPr sz="1700" b="1">
                <a:solidFill>
                  <a:srgbClr val="E8EDF5"/>
                </a:solidFill>
                <a:latin typeface="Arial"/>
              </a:rPr>
              <a:t>Generate</a:t>
            </a:r>
          </a:p>
        </p:txBody>
      </p:sp>
      <p:sp>
        <p:nvSpPr>
          <p:cNvPr id="24" name="TextBox 23"/>
          <p:cNvSpPr txBox="1"/>
          <p:nvPr/>
        </p:nvSpPr>
        <p:spPr>
          <a:xfrm>
            <a:off x="5184648" y="2743200"/>
            <a:ext cx="1792224" cy="548640"/>
          </a:xfrm>
          <a:prstGeom prst="rect">
            <a:avLst/>
          </a:prstGeom>
          <a:noFill/>
        </p:spPr>
        <p:txBody>
          <a:bodyPr wrap="square" lIns="0" rIns="0" tIns="0" bIns="0">
            <a:spAutoFit/>
          </a:bodyPr>
          <a:lstStyle/>
          <a:p>
            <a:pPr algn="ctr">
              <a:spcAft>
                <a:spcPts val="600"/>
              </a:spcAft>
            </a:pPr>
            <a:r>
              <a:rPr sz="1050" b="0">
                <a:solidFill>
                  <a:srgbClr val="8896B0"/>
                </a:solidFill>
                <a:latin typeface="Courier New"/>
              </a:rPr>
              <a:t>ConnectorGenerator</a:t>
            </a:r>
          </a:p>
          <a:p>
            <a:pPr algn="ctr">
              <a:spcAft>
                <a:spcPts val="0"/>
              </a:spcAft>
            </a:pPr>
            <a:r>
              <a:rPr sz="1050" b="0">
                <a:solidFill>
                  <a:srgbClr val="8896B0"/>
                </a:solidFill>
                <a:latin typeface="Courier New"/>
              </a:rPr>
              <a:t>.generate()</a:t>
            </a:r>
          </a:p>
        </p:txBody>
      </p:sp>
      <p:sp>
        <p:nvSpPr>
          <p:cNvPr id="25" name="TextBox 24"/>
          <p:cNvSpPr txBox="1"/>
          <p:nvPr/>
        </p:nvSpPr>
        <p:spPr>
          <a:xfrm>
            <a:off x="5184648" y="3547872"/>
            <a:ext cx="1792224" cy="292608"/>
          </a:xfrm>
          <a:prstGeom prst="rect">
            <a:avLst/>
          </a:prstGeom>
          <a:noFill/>
        </p:spPr>
        <p:txBody>
          <a:bodyPr wrap="square" lIns="0" rIns="0" tIns="0" bIns="0">
            <a:spAutoFit/>
          </a:bodyPr>
          <a:lstStyle/>
          <a:p>
            <a:pPr algn="ctr">
              <a:spcAft>
                <a:spcPts val="600"/>
              </a:spcAft>
            </a:pPr>
            <a:r>
              <a:rPr sz="1050" b="0">
                <a:solidFill>
                  <a:srgbClr val="4B5975"/>
                </a:solidFill>
                <a:latin typeface="Courier New"/>
              </a:rPr>
              <a:t>GeneratedConnector</a:t>
            </a:r>
          </a:p>
        </p:txBody>
      </p:sp>
      <p:cxnSp>
        <p:nvCxnSpPr>
          <p:cNvPr id="26" name="Connector 25"/>
          <p:cNvCxnSpPr/>
          <p:nvPr/>
        </p:nvCxnSpPr>
        <p:spPr>
          <a:xfrm>
            <a:off x="7104888" y="2834640"/>
            <a:ext cx="146304" cy="0"/>
          </a:xfrm>
          <a:prstGeom prst="line">
            <a:avLst/>
          </a:prstGeom>
          <a:ln w="19050">
            <a:solidFill>
              <a:srgbClr val="8896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80760" y="3895344"/>
            <a:ext cx="0" cy="676656"/>
          </a:xfrm>
          <a:prstGeom prst="line">
            <a:avLst/>
          </a:prstGeom>
          <a:ln w="12700">
            <a:solidFill>
              <a:srgbClr val="1F2A40"/>
            </a:solidFill>
            <a:prstDash val="sysDot"/>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74920" y="4572000"/>
            <a:ext cx="2011680" cy="566928"/>
          </a:xfrm>
          <a:prstGeom prst="roundRect">
            <a:avLst>
              <a:gd name="adj" fmla="val 18000"/>
            </a:avLst>
          </a:prstGeom>
          <a:noFill/>
          <a:ln w="1905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600"/>
              </a:spcAft>
            </a:pPr>
            <a:r>
              <a:rPr sz="1200" b="1">
                <a:solidFill>
                  <a:srgbClr val="60A5FA"/>
                </a:solidFill>
                <a:latin typeface="Arial"/>
              </a:rPr>
              <a:t>only on failure / docs</a:t>
            </a:r>
          </a:p>
        </p:txBody>
      </p:sp>
      <p:sp>
        <p:nvSpPr>
          <p:cNvPr id="29" name="TextBox 28"/>
          <p:cNvSpPr txBox="1"/>
          <p:nvPr/>
        </p:nvSpPr>
        <p:spPr>
          <a:xfrm>
            <a:off x="7379208" y="1847088"/>
            <a:ext cx="1792224" cy="274320"/>
          </a:xfrm>
          <a:prstGeom prst="rect">
            <a:avLst/>
          </a:prstGeom>
          <a:noFill/>
        </p:spPr>
        <p:txBody>
          <a:bodyPr wrap="square" lIns="0" rIns="0" tIns="0" bIns="0">
            <a:spAutoFit/>
          </a:bodyPr>
          <a:lstStyle/>
          <a:p>
            <a:pPr>
              <a:spcAft>
                <a:spcPts val="600"/>
              </a:spcAft>
            </a:pPr>
            <a:r>
              <a:rPr sz="1050" b="0">
                <a:solidFill>
                  <a:srgbClr val="4B5975"/>
                </a:solidFill>
                <a:latin typeface="Courier New"/>
              </a:rPr>
              <a:t>POST …/test</a:t>
            </a:r>
          </a:p>
        </p:txBody>
      </p:sp>
      <p:sp>
        <p:nvSpPr>
          <p:cNvPr id="30" name="Rectangle 29"/>
          <p:cNvSpPr/>
          <p:nvPr/>
        </p:nvSpPr>
        <p:spPr>
          <a:xfrm>
            <a:off x="7269480" y="2249424"/>
            <a:ext cx="2011680" cy="1170432"/>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79208" y="2377440"/>
            <a:ext cx="1792224" cy="310896"/>
          </a:xfrm>
          <a:prstGeom prst="rect">
            <a:avLst/>
          </a:prstGeom>
          <a:noFill/>
        </p:spPr>
        <p:txBody>
          <a:bodyPr wrap="square" lIns="0" rIns="0" tIns="0" bIns="0">
            <a:spAutoFit/>
          </a:bodyPr>
          <a:lstStyle/>
          <a:p>
            <a:pPr algn="ctr">
              <a:spcAft>
                <a:spcPts val="600"/>
              </a:spcAft>
            </a:pPr>
            <a:r>
              <a:rPr sz="1700" b="1">
                <a:solidFill>
                  <a:srgbClr val="E8EDF5"/>
                </a:solidFill>
                <a:latin typeface="Arial"/>
              </a:rPr>
              <a:t>Test</a:t>
            </a:r>
          </a:p>
        </p:txBody>
      </p:sp>
      <p:sp>
        <p:nvSpPr>
          <p:cNvPr id="32" name="TextBox 31"/>
          <p:cNvSpPr txBox="1"/>
          <p:nvPr/>
        </p:nvSpPr>
        <p:spPr>
          <a:xfrm>
            <a:off x="7379208" y="2743200"/>
            <a:ext cx="1792224" cy="548640"/>
          </a:xfrm>
          <a:prstGeom prst="rect">
            <a:avLst/>
          </a:prstGeom>
          <a:noFill/>
        </p:spPr>
        <p:txBody>
          <a:bodyPr wrap="square" lIns="0" rIns="0" tIns="0" bIns="0">
            <a:spAutoFit/>
          </a:bodyPr>
          <a:lstStyle/>
          <a:p>
            <a:pPr algn="ctr">
              <a:spcAft>
                <a:spcPts val="600"/>
              </a:spcAft>
            </a:pPr>
            <a:r>
              <a:rPr sz="1050" b="0">
                <a:solidFill>
                  <a:srgbClr val="8896B0"/>
                </a:solidFill>
                <a:latin typeface="Courier New"/>
              </a:rPr>
              <a:t>ConnectionSandbox</a:t>
            </a:r>
          </a:p>
          <a:p>
            <a:pPr algn="ctr">
              <a:spcAft>
                <a:spcPts val="0"/>
              </a:spcAft>
            </a:pPr>
            <a:r>
              <a:rPr sz="1050" b="0">
                <a:solidFill>
                  <a:srgbClr val="8896B0"/>
                </a:solidFill>
                <a:latin typeface="Courier New"/>
              </a:rPr>
              <a:t>.run()</a:t>
            </a:r>
          </a:p>
        </p:txBody>
      </p:sp>
      <p:sp>
        <p:nvSpPr>
          <p:cNvPr id="33" name="TextBox 32"/>
          <p:cNvSpPr txBox="1"/>
          <p:nvPr/>
        </p:nvSpPr>
        <p:spPr>
          <a:xfrm>
            <a:off x="7379208" y="3547872"/>
            <a:ext cx="1792224" cy="292608"/>
          </a:xfrm>
          <a:prstGeom prst="rect">
            <a:avLst/>
          </a:prstGeom>
          <a:noFill/>
        </p:spPr>
        <p:txBody>
          <a:bodyPr wrap="square" lIns="0" rIns="0" tIns="0" bIns="0">
            <a:spAutoFit/>
          </a:bodyPr>
          <a:lstStyle/>
          <a:p>
            <a:pPr algn="ctr">
              <a:spcAft>
                <a:spcPts val="600"/>
              </a:spcAft>
            </a:pPr>
            <a:r>
              <a:rPr sz="1050" b="0">
                <a:solidFill>
                  <a:srgbClr val="4B5975"/>
                </a:solidFill>
                <a:latin typeface="Courier New"/>
              </a:rPr>
              <a:t>SandboxResult</a:t>
            </a:r>
          </a:p>
        </p:txBody>
      </p:sp>
      <p:cxnSp>
        <p:nvCxnSpPr>
          <p:cNvPr id="34" name="Connector 33"/>
          <p:cNvCxnSpPr/>
          <p:nvPr/>
        </p:nvCxnSpPr>
        <p:spPr>
          <a:xfrm>
            <a:off x="9299448" y="2834640"/>
            <a:ext cx="146304" cy="0"/>
          </a:xfrm>
          <a:prstGeom prst="line">
            <a:avLst/>
          </a:prstGeom>
          <a:ln w="19050">
            <a:solidFill>
              <a:srgbClr val="8896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275320" y="3895344"/>
            <a:ext cx="0" cy="676656"/>
          </a:xfrm>
          <a:prstGeom prst="line">
            <a:avLst/>
          </a:prstGeom>
          <a:ln w="12700">
            <a:solidFill>
              <a:srgbClr val="1F2A40"/>
            </a:solidFill>
            <a:prstDash val="sysDot"/>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269480" y="4572000"/>
            <a:ext cx="2011680" cy="566928"/>
          </a:xfrm>
          <a:prstGeom prst="roundRect">
            <a:avLst>
              <a:gd name="adj" fmla="val 18000"/>
            </a:avLst>
          </a:prstGeom>
          <a:noFill/>
          <a:ln w="1905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600"/>
              </a:spcAft>
            </a:pPr>
            <a:r>
              <a:rPr sz="1200" b="1">
                <a:solidFill>
                  <a:srgbClr val="60A5FA"/>
                </a:solidFill>
                <a:latin typeface="Arial"/>
              </a:rPr>
              <a:t>only on failure</a:t>
            </a:r>
          </a:p>
        </p:txBody>
      </p:sp>
      <p:sp>
        <p:nvSpPr>
          <p:cNvPr id="37" name="TextBox 36"/>
          <p:cNvSpPr txBox="1"/>
          <p:nvPr/>
        </p:nvSpPr>
        <p:spPr>
          <a:xfrm>
            <a:off x="9573768" y="1847088"/>
            <a:ext cx="1792224" cy="274320"/>
          </a:xfrm>
          <a:prstGeom prst="rect">
            <a:avLst/>
          </a:prstGeom>
          <a:noFill/>
        </p:spPr>
        <p:txBody>
          <a:bodyPr wrap="square" lIns="0" rIns="0" tIns="0" bIns="0">
            <a:spAutoFit/>
          </a:bodyPr>
          <a:lstStyle/>
          <a:p>
            <a:pPr>
              <a:spcAft>
                <a:spcPts val="600"/>
              </a:spcAft>
            </a:pPr>
            <a:r>
              <a:rPr sz="1050" b="0">
                <a:solidFill>
                  <a:srgbClr val="4B5975"/>
                </a:solidFill>
                <a:latin typeface="Courier New"/>
              </a:rPr>
              <a:t>GET …/download</a:t>
            </a:r>
          </a:p>
        </p:txBody>
      </p:sp>
      <p:sp>
        <p:nvSpPr>
          <p:cNvPr id="38" name="Rectangle 37"/>
          <p:cNvSpPr/>
          <p:nvPr/>
        </p:nvSpPr>
        <p:spPr>
          <a:xfrm>
            <a:off x="9464040" y="2249424"/>
            <a:ext cx="2011680" cy="1170432"/>
          </a:xfrm>
          <a:prstGeom prst="rect">
            <a:avLst/>
          </a:prstGeom>
          <a:solidFill>
            <a:srgbClr val="111827"/>
          </a:solidFill>
          <a:ln w="15875">
            <a:solidFill>
              <a:srgbClr val="1F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73768" y="2377440"/>
            <a:ext cx="1792224" cy="310896"/>
          </a:xfrm>
          <a:prstGeom prst="rect">
            <a:avLst/>
          </a:prstGeom>
          <a:noFill/>
        </p:spPr>
        <p:txBody>
          <a:bodyPr wrap="square" lIns="0" rIns="0" tIns="0" bIns="0">
            <a:spAutoFit/>
          </a:bodyPr>
          <a:lstStyle/>
          <a:p>
            <a:pPr algn="ctr">
              <a:spcAft>
                <a:spcPts val="600"/>
              </a:spcAft>
            </a:pPr>
            <a:r>
              <a:rPr sz="1700" b="1">
                <a:solidFill>
                  <a:srgbClr val="E8EDF5"/>
                </a:solidFill>
                <a:latin typeface="Arial"/>
              </a:rPr>
              <a:t>Deliver</a:t>
            </a:r>
          </a:p>
        </p:txBody>
      </p:sp>
      <p:sp>
        <p:nvSpPr>
          <p:cNvPr id="40" name="TextBox 39"/>
          <p:cNvSpPr txBox="1"/>
          <p:nvPr/>
        </p:nvSpPr>
        <p:spPr>
          <a:xfrm>
            <a:off x="9573768" y="2743200"/>
            <a:ext cx="1792224" cy="548640"/>
          </a:xfrm>
          <a:prstGeom prst="rect">
            <a:avLst/>
          </a:prstGeom>
          <a:noFill/>
        </p:spPr>
        <p:txBody>
          <a:bodyPr wrap="square" lIns="0" rIns="0" tIns="0" bIns="0">
            <a:spAutoFit/>
          </a:bodyPr>
          <a:lstStyle/>
          <a:p>
            <a:pPr algn="ctr">
              <a:spcAft>
                <a:spcPts val="600"/>
              </a:spcAft>
            </a:pPr>
            <a:r>
              <a:rPr sz="1050" b="0">
                <a:solidFill>
                  <a:srgbClr val="8896B0"/>
                </a:solidFill>
                <a:latin typeface="Courier New"/>
              </a:rPr>
              <a:t>Artifact</a:t>
            </a:r>
          </a:p>
          <a:p>
            <a:pPr algn="ctr">
              <a:spcAft>
                <a:spcPts val="0"/>
              </a:spcAft>
            </a:pPr>
            <a:r>
              <a:rPr sz="1050" b="0">
                <a:solidFill>
                  <a:srgbClr val="8896B0"/>
                </a:solidFill>
                <a:latin typeface="Courier New"/>
              </a:rPr>
              <a:t>.to_zip()</a:t>
            </a:r>
          </a:p>
        </p:txBody>
      </p:sp>
      <p:sp>
        <p:nvSpPr>
          <p:cNvPr id="41" name="TextBox 40"/>
          <p:cNvSpPr txBox="1"/>
          <p:nvPr/>
        </p:nvSpPr>
        <p:spPr>
          <a:xfrm>
            <a:off x="9573768" y="3547872"/>
            <a:ext cx="1792224" cy="292608"/>
          </a:xfrm>
          <a:prstGeom prst="rect">
            <a:avLst/>
          </a:prstGeom>
          <a:noFill/>
        </p:spPr>
        <p:txBody>
          <a:bodyPr wrap="square" lIns="0" rIns="0" tIns="0" bIns="0">
            <a:spAutoFit/>
          </a:bodyPr>
          <a:lstStyle/>
          <a:p>
            <a:pPr algn="ctr">
              <a:spcAft>
                <a:spcPts val="600"/>
              </a:spcAft>
            </a:pPr>
            <a:r>
              <a:rPr sz="1050" b="0">
                <a:solidFill>
                  <a:srgbClr val="4B5975"/>
                </a:solidFill>
                <a:latin typeface="Courier New"/>
              </a:rPr>
              <a:t>bytes</a:t>
            </a:r>
          </a:p>
        </p:txBody>
      </p:sp>
      <p:cxnSp>
        <p:nvCxnSpPr>
          <p:cNvPr id="42" name="Connector 41"/>
          <p:cNvCxnSpPr/>
          <p:nvPr/>
        </p:nvCxnSpPr>
        <p:spPr>
          <a:xfrm>
            <a:off x="10469880" y="3895344"/>
            <a:ext cx="0" cy="676656"/>
          </a:xfrm>
          <a:prstGeom prst="line">
            <a:avLst/>
          </a:prstGeom>
          <a:ln w="12700">
            <a:solidFill>
              <a:srgbClr val="1F2A40"/>
            </a:solidFill>
            <a:prstDash val="sysDot"/>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464040" y="4572000"/>
            <a:ext cx="2011680" cy="566928"/>
          </a:xfrm>
          <a:prstGeom prst="roundRect">
            <a:avLst>
              <a:gd name="adj" fmla="val 18000"/>
            </a:avLst>
          </a:prstGeom>
          <a:noFill/>
          <a:ln w="12700">
            <a:solidFill>
              <a:srgbClr val="4B59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600"/>
              </a:spcAft>
            </a:pPr>
            <a:r>
              <a:rPr sz="1200" b="0">
                <a:solidFill>
                  <a:srgbClr val="4B5975"/>
                </a:solidFill>
                <a:latin typeface="Arial"/>
              </a:rPr>
              <a:t>never</a:t>
            </a:r>
          </a:p>
        </p:txBody>
      </p:sp>
      <p:sp>
        <p:nvSpPr>
          <p:cNvPr id="44" name="Freeform 43"/>
          <p:cNvSpPr/>
          <p:nvPr/>
        </p:nvSpPr>
        <p:spPr>
          <a:xfrm>
            <a:off x="3363163" y="1975104"/>
            <a:ext cx="1046073" cy="274320"/>
          </a:xfrm>
          <a:custGeom>
            <a:avLst/>
            <a:gdLst/>
            <a:ahLst/>
            <a:cxnLst/>
            <a:rect l="l" t="t" r="r" b="b"/>
            <a:pathLst>
              <a:path w="1046073" h="274320">
                <a:moveTo>
                  <a:pt x="1046073" y="274320"/>
                </a:moveTo>
                <a:lnTo>
                  <a:pt x="1041599" y="238514"/>
                </a:lnTo>
                <a:lnTo>
                  <a:pt x="1028251" y="203320"/>
                </a:lnTo>
                <a:lnTo>
                  <a:pt x="1006259" y="169342"/>
                </a:lnTo>
                <a:lnTo>
                  <a:pt x="976000" y="137160"/>
                </a:lnTo>
                <a:lnTo>
                  <a:pt x="937989" y="107324"/>
                </a:lnTo>
                <a:lnTo>
                  <a:pt x="892879" y="80346"/>
                </a:lnTo>
                <a:lnTo>
                  <a:pt x="841441" y="56687"/>
                </a:lnTo>
                <a:lnTo>
                  <a:pt x="784555" y="36751"/>
                </a:lnTo>
                <a:lnTo>
                  <a:pt x="723194" y="20881"/>
                </a:lnTo>
                <a:lnTo>
                  <a:pt x="658408" y="9347"/>
                </a:lnTo>
                <a:lnTo>
                  <a:pt x="591307" y="2346"/>
                </a:lnTo>
                <a:lnTo>
                  <a:pt x="523037" y="0"/>
                </a:lnTo>
                <a:lnTo>
                  <a:pt x="454766" y="2346"/>
                </a:lnTo>
                <a:lnTo>
                  <a:pt x="387665" y="9347"/>
                </a:lnTo>
                <a:lnTo>
                  <a:pt x="322879" y="20881"/>
                </a:lnTo>
                <a:lnTo>
                  <a:pt x="261518" y="36751"/>
                </a:lnTo>
                <a:lnTo>
                  <a:pt x="204632" y="56687"/>
                </a:lnTo>
                <a:lnTo>
                  <a:pt x="153194" y="80346"/>
                </a:lnTo>
                <a:lnTo>
                  <a:pt x="108084" y="107324"/>
                </a:lnTo>
                <a:lnTo>
                  <a:pt x="70073" y="137160"/>
                </a:lnTo>
                <a:lnTo>
                  <a:pt x="39814" y="169342"/>
                </a:lnTo>
                <a:lnTo>
                  <a:pt x="17822" y="203320"/>
                </a:lnTo>
                <a:lnTo>
                  <a:pt x="4474" y="238514"/>
                </a:lnTo>
                <a:lnTo>
                  <a:pt x="0" y="274320"/>
                </a:lnTo>
              </a:path>
            </a:pathLst>
          </a:custGeom>
          <a:noFill/>
          <a:ln w="15875">
            <a:solidFill>
              <a:srgbClr val="8896B0"/>
            </a:solidFill>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31720" y="1444752"/>
            <a:ext cx="3017520" cy="274320"/>
          </a:xfrm>
          <a:prstGeom prst="rect">
            <a:avLst/>
          </a:prstGeom>
          <a:noFill/>
        </p:spPr>
        <p:txBody>
          <a:bodyPr wrap="square" lIns="0" rIns="0" tIns="0" bIns="0">
            <a:spAutoFit/>
          </a:bodyPr>
          <a:lstStyle/>
          <a:p>
            <a:pPr algn="ctr">
              <a:spcAft>
                <a:spcPts val="600"/>
              </a:spcAft>
            </a:pPr>
            <a:r>
              <a:rPr sz="1050" b="0">
                <a:solidFill>
                  <a:srgbClr val="8896B0"/>
                </a:solidFill>
                <a:latin typeface="Arial"/>
              </a:rPr>
              <a:t>until no questions remain</a:t>
            </a:r>
          </a:p>
        </p:txBody>
      </p:sp>
      <p:sp>
        <p:nvSpPr>
          <p:cNvPr id="46" name="Rectangle 45"/>
          <p:cNvSpPr/>
          <p:nvPr/>
        </p:nvSpPr>
        <p:spPr>
          <a:xfrm>
            <a:off x="685800" y="4242816"/>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4306824"/>
            <a:ext cx="5486400" cy="274320"/>
          </a:xfrm>
          <a:prstGeom prst="rect">
            <a:avLst/>
          </a:prstGeom>
          <a:noFill/>
        </p:spPr>
        <p:txBody>
          <a:bodyPr wrap="square" lIns="0" rIns="0" tIns="0" bIns="0">
            <a:spAutoFit/>
          </a:bodyPr>
          <a:lstStyle/>
          <a:p>
            <a:pPr>
              <a:spcAft>
                <a:spcPts val="600"/>
              </a:spcAft>
            </a:pPr>
            <a:r>
              <a:rPr sz="1050" b="0">
                <a:solidFill>
                  <a:srgbClr val="4B5975"/>
                </a:solidFill>
                <a:latin typeface="Courier New"/>
              </a:rPr>
              <a:t>WHERE THE MODEL IS CALLED</a:t>
            </a:r>
          </a:p>
        </p:txBody>
      </p:sp>
      <p:sp>
        <p:nvSpPr>
          <p:cNvPr id="48" name="TextBox 47"/>
          <p:cNvSpPr txBox="1"/>
          <p:nvPr/>
        </p:nvSpPr>
        <p:spPr>
          <a:xfrm>
            <a:off x="685800" y="5431536"/>
            <a:ext cx="10789920" cy="914400"/>
          </a:xfrm>
          <a:prstGeom prst="rect">
            <a:avLst/>
          </a:prstGeom>
          <a:noFill/>
        </p:spPr>
        <p:txBody>
          <a:bodyPr wrap="square" lIns="0" rIns="0" tIns="0" bIns="0">
            <a:spAutoFit/>
          </a:bodyPr>
          <a:lstStyle/>
          <a:p>
            <a:pPr>
              <a:spcAft>
                <a:spcPts val="600"/>
              </a:spcAft>
            </a:pPr>
            <a:r>
              <a:rPr sz="1350" b="0">
                <a:solidFill>
                  <a:srgbClr val="8896B0"/>
                </a:solidFill>
                <a:latin typeface="Arial"/>
              </a:rPr>
              <a:t>Answering a clarifying question is deterministic — the answers map onto known fields, so no second extraction can misread what you already settled.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PRODUCT · 1 OF 6</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Describe the source in plain English</a:t>
            </a:r>
          </a:p>
        </p:txBody>
      </p:sp>
      <p:pic>
        <p:nvPicPr>
          <p:cNvPr id="5" name="Picture 4" descr="01-welcome.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No forms, no connection wizard. Three worked examples are built in for a cold start.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PRODUCT · 2 OF 6</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When the request is incomplete, the agent asks</a:t>
            </a:r>
          </a:p>
        </p:txBody>
      </p:sp>
      <p:pic>
        <p:nvPicPr>
          <p:cNvPr id="5" name="Picture 4" descr="02-clarification.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Host was never stated, so it is not invented. Confidence drops to 55%, the missing field isnamed, and the question carries an example — a templated question, not model-authored prose.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PRODUCT · 3 OF 6</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Extraction, generation, and the standards gate</a:t>
            </a:r>
          </a:p>
        </p:txBody>
      </p:sp>
      <p:pic>
        <p:nvPicPr>
          <p:cNvPr id="5" name="Picture 4" descr="04-standards.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Everything the agent understood is shown for review — including what it assumed. 13 of 13 checks pass, so the artifact is accepted.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PRODUCT · 4 OF 6</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The generated connector</a:t>
            </a:r>
          </a:p>
        </p:txBody>
      </p:sp>
      <p:pic>
        <p:nvPicPr>
          <p:cNvPr id="5" name="Picture 4" descr="05-code.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Provenance above the code: template version, spec checksum, code checksum, repair count. Written by a template, never by the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PRODUCT · 5 OF 6</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Proven against a real database, not just compiled</a:t>
            </a:r>
          </a:p>
        </p:txBody>
      </p:sp>
      <p:pic>
        <p:nvPicPr>
          <p:cNvPr id="5" name="Picture 4" descr="06-connection.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Executed in a sandboxed subprocess against live PostgreSQL. Three tables discovered with their primary keys. Credentials are sent once and never stored, logged, or written to the artifact.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THE PRODUCT · 6 OF 6</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The handover artifact</a:t>
            </a:r>
          </a:p>
        </p:txBody>
      </p:sp>
      <p:pic>
        <p:nvPicPr>
          <p:cNvPr id="5" name="Picture 4" descr="07-artifact.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Connector, README, requirements, explanation and a manifest — packaged as a versioned zip with a checksum over the whole bundle.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TECHNOLOGY</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The stack, and why each piece is there</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85800" y="2011680"/>
          <a:ext cx="10789920" cy="365760"/>
        </p:xfrm>
        <a:graphic>
          <a:graphicData uri="http://schemas.openxmlformats.org/drawingml/2006/table">
            <a:tbl>
              <a:tblPr firstRow="1" bandRow="1">
                <a:tableStyleId>{5C22544A-7EE6-4342-B048-85BDC9FD1C3A}</a:tableStyleId>
              </a:tblPr>
              <a:tblGrid>
                <a:gridCol w="3596640"/>
                <a:gridCol w="3596640"/>
                <a:gridCol w="3596640"/>
              </a:tblGrid>
              <a:tr h="40640">
                <a:tc>
                  <a:txBody>
                    <a:bodyPr/>
                    <a:lstStyle/>
                    <a:p>
                      <a:r>
                        <a:rPr sz="1200" b="1">
                          <a:solidFill>
                            <a:srgbClr val="8896B0"/>
                          </a:solidFill>
                          <a:latin typeface="Courier New"/>
                        </a:rPr>
                        <a:t>Layer</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200" b="1">
                          <a:solidFill>
                            <a:srgbClr val="8896B0"/>
                          </a:solidFill>
                          <a:latin typeface="Courier New"/>
                        </a:rPr>
                        <a:t>Choice</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200" b="1">
                          <a:solidFill>
                            <a:srgbClr val="8896B0"/>
                          </a:solidFill>
                          <a:latin typeface="Courier New"/>
                        </a:rPr>
                        <a:t>Why this one</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API</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FastAPI + Pydantic v2</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Schema validation at the boundary, not in the handlers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Spec</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Pydantic models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Permissive draft, then promotion to a strict spec</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Codegen</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Jinja2</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Deterministic. The reason the standards guarantee holds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Validation</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ast + ruff + black + bandit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Parsed, never imported — importing runs it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Database</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SQLAlchemy 2.0</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One connector shape across three SQL dialects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Sandbox</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subprocess + rlimits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Timeout, memory cap, allowlisted environment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Front end</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React 18 + TypeScript + Vite</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Built to static files, served by the same process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40640">
                <a:tc>
                  <a:txBody>
                    <a:bodyPr/>
                    <a:lstStyle/>
                    <a:p>
                      <a:r>
                        <a:rPr sz="1300" b="1">
                          <a:solidFill>
                            <a:srgbClr val="E8EDF5"/>
                          </a:solidFill>
                          <a:latin typeface="Arial"/>
                        </a:rPr>
                        <a:t>Tests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pytest — 280 of them</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Including deliberate fault injection</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bl>
          </a:graphicData>
        </a:graphic>
      </p:graphicFrame>
      <p:sp>
        <p:nvSpPr>
          <p:cNvPr id="7" name="TextBox 6"/>
          <p:cNvSpPr txBox="1"/>
          <p:nvPr/>
        </p:nvSpPr>
        <p:spPr>
          <a:xfrm>
            <a:off x="685800" y="594360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No orchestration framework. The pipeline is six modules and a function call chain.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DESIGN · QUALITY</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What happens when generation goes wrong</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13 AST checks, run on parsed source</a:t>
            </a:r>
          </a:p>
          <a:p>
            <a:pPr>
              <a:spcAft>
                <a:spcPts val="1600"/>
              </a:spcAft>
            </a:pPr>
            <a:r>
              <a:rPr sz="1450" b="0">
                <a:solidFill>
                  <a:srgbClr val="8896B0"/>
                </a:solidFill>
                <a:latin typeface="Arial"/>
              </a:rPr>
              <a:t>no-hardcoded-credentials · no-dynamic-sql · env-for-secrets · no-dangerous-calls ·type-hints · docstrings · and seven more. The code is never imported to be checked.</a:t>
            </a:r>
          </a:p>
          <a:p>
            <a:pPr>
              <a:spcAft>
                <a:spcPts val="300"/>
              </a:spcAft>
            </a:pPr>
            <a:r>
              <a:rPr sz="1700" b="1">
                <a:solidFill>
                  <a:srgbClr val="E8EDF5"/>
                </a:solidFill>
                <a:latin typeface="Arial"/>
              </a:rPr>
              <a:t>A bounded repair loop with a regression guard</a:t>
            </a:r>
          </a:p>
          <a:p>
            <a:pPr>
              <a:spcAft>
                <a:spcPts val="1600"/>
              </a:spcAft>
            </a:pPr>
            <a:r>
              <a:rPr sz="1450" b="0">
                <a:solidFill>
                  <a:srgbClr val="8896B0"/>
                </a:solidFill>
                <a:latin typeface="Arial"/>
              </a:rPr>
              <a:t>At most three attempts, and a candidate is adopted only if it strictly reduces theerror count. The returned code is never worse than the input.</a:t>
            </a:r>
          </a:p>
          <a:p>
            <a:pPr>
              <a:spcAft>
                <a:spcPts val="300"/>
              </a:spcAft>
            </a:pPr>
            <a:r>
              <a:rPr sz="1700" b="1">
                <a:solidFill>
                  <a:srgbClr val="E8EDF5"/>
                </a:solidFill>
                <a:latin typeface="Arial"/>
              </a:rPr>
              <a:t>Rejection is a rendered outcome, not a crash</a:t>
            </a:r>
          </a:p>
          <a:p>
            <a:pPr>
              <a:spcAft>
                <a:spcPts val="1600"/>
              </a:spcAft>
            </a:pPr>
            <a:r>
              <a:rPr sz="1450" b="0">
                <a:solidFill>
                  <a:srgbClr val="8896B0"/>
                </a:solidFill>
                <a:latin typeface="Arial"/>
              </a:rPr>
              <a:t>A failing connector still comes back, with its findings, so a reviewer can see exactly what went wrong.</a:t>
            </a:r>
          </a:p>
          <a:p>
            <a:pPr>
              <a:spcAft>
                <a:spcPts val="300"/>
              </a:spcAft>
            </a:pPr>
            <a:r>
              <a:rPr sz="1700" b="1">
                <a:solidFill>
                  <a:srgbClr val="E8EDF5"/>
                </a:solidFill>
                <a:latin typeface="Arial"/>
              </a:rPr>
              <a:t>The checker is tested against bad input</a:t>
            </a:r>
          </a:p>
          <a:p>
            <a:pPr>
              <a:spcAft>
                <a:spcPts val="1600"/>
              </a:spcAft>
            </a:pPr>
            <a:r>
              <a:rPr sz="1450" b="0">
                <a:solidFill>
                  <a:srgbClr val="8896B0"/>
                </a:solidFill>
                <a:latin typeface="Arial"/>
              </a:rPr>
              <a:t>npm run generate:faults injects a hardcoded password, an eval(), an f-string SQL query. A checker that has only seen good input has demonstrated nothing.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DESIGN · SECURITY</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Secrets never touch the artifact</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Scrubbed at input</a:t>
            </a:r>
          </a:p>
          <a:p>
            <a:pPr>
              <a:spcAft>
                <a:spcPts val="1600"/>
              </a:spcAft>
            </a:pPr>
            <a:r>
              <a:rPr sz="1450" b="0">
                <a:solidFill>
                  <a:srgbClr val="8896B0"/>
                </a:solidFill>
                <a:latin typeface="Arial"/>
              </a:rPr>
              <a:t>Credentials are redacted before the prompt reaches the model, and the stored record holds the scrubbed copy — so a pasted password cannot resurface in a later response.</a:t>
            </a:r>
          </a:p>
          <a:p>
            <a:pPr>
              <a:spcAft>
                <a:spcPts val="300"/>
              </a:spcAft>
            </a:pPr>
            <a:r>
              <a:rPr sz="1700" b="1">
                <a:solidFill>
                  <a:srgbClr val="E8EDF5"/>
                </a:solidFill>
                <a:latin typeface="Arial"/>
              </a:rPr>
              <a:t>Structurally impossible in the output</a:t>
            </a:r>
          </a:p>
          <a:p>
            <a:pPr>
              <a:spcAft>
                <a:spcPts val="1600"/>
              </a:spcAft>
            </a:pPr>
            <a:r>
              <a:rPr sz="1450" b="0">
                <a:solidFill>
                  <a:srgbClr val="8896B0"/>
                </a:solidFill>
                <a:latin typeface="Arial"/>
              </a:rPr>
              <a:t>Two AST checks make a literal credential a rejection rather than a review comment.</a:t>
            </a:r>
          </a:p>
          <a:p>
            <a:pPr>
              <a:spcAft>
                <a:spcPts val="300"/>
              </a:spcAft>
            </a:pPr>
            <a:r>
              <a:rPr sz="1700" b="1">
                <a:solidFill>
                  <a:srgbClr val="E8EDF5"/>
                </a:solidFill>
                <a:latin typeface="Arial"/>
              </a:rPr>
              <a:t>Names only in the manifest</a:t>
            </a:r>
          </a:p>
          <a:p>
            <a:pPr>
              <a:spcAft>
                <a:spcPts val="1600"/>
              </a:spcAft>
            </a:pPr>
            <a:r>
              <a:rPr sz="1450" b="0">
                <a:solidFill>
                  <a:srgbClr val="8896B0"/>
                </a:solidFill>
                <a:latin typeface="Arial"/>
              </a:rPr>
              <a:t>The bundle records which environment variables are required, never their values.</a:t>
            </a:r>
          </a:p>
          <a:p>
            <a:pPr>
              <a:spcAft>
                <a:spcPts val="300"/>
              </a:spcAft>
            </a:pPr>
            <a:r>
              <a:rPr sz="1700" b="1">
                <a:solidFill>
                  <a:srgbClr val="E8EDF5"/>
                </a:solidFill>
                <a:latin typeface="Arial"/>
              </a:rPr>
              <a:t>Transient at test time</a:t>
            </a:r>
          </a:p>
          <a:p>
            <a:pPr>
              <a:spcAft>
                <a:spcPts val="1600"/>
              </a:spcAft>
            </a:pPr>
            <a:r>
              <a:rPr sz="1450" b="0">
                <a:solidFill>
                  <a:srgbClr val="8896B0"/>
                </a:solidFill>
                <a:latin typeface="Arial"/>
              </a:rPr>
              <a:t>The sandbox child gets an allowlisted environment — not a denylist, because a denylist exposes every newly added secret until someone remembers to update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DESIGN · PROVENANCE</a:t>
            </a:r>
          </a:p>
        </p:txBody>
      </p:sp>
      <p:sp>
        <p:nvSpPr>
          <p:cNvPr id="4" name="TextBox 3"/>
          <p:cNvSpPr txBox="1"/>
          <p:nvPr/>
        </p:nvSpPr>
        <p:spPr>
          <a:xfrm>
            <a:off x="685800" y="658368"/>
            <a:ext cx="10789920" cy="457200"/>
          </a:xfrm>
          <a:prstGeom prst="rect">
            <a:avLst/>
          </a:prstGeom>
          <a:noFill/>
        </p:spPr>
        <p:txBody>
          <a:bodyPr wrap="square" lIns="0" rIns="0" tIns="0" bIns="0">
            <a:spAutoFit/>
          </a:bodyPr>
          <a:lstStyle/>
          <a:p>
            <a:pPr>
              <a:spcAft>
                <a:spcPts val="600"/>
              </a:spcAft>
            </a:pPr>
            <a:r>
              <a:rPr sz="2400" b="1">
                <a:solidFill>
                  <a:srgbClr val="E8EDF5"/>
                </a:solidFill>
                <a:latin typeface="Arial"/>
              </a:rPr>
              <a:t>Every artifact answers 'where did this come from?'</a:t>
            </a:r>
          </a:p>
        </p:txBody>
      </p:sp>
      <p:pic>
        <p:nvPicPr>
          <p:cNvPr id="5" name="Picture 4" descr="08-manifest.png"/>
          <p:cNvPicPr>
            <a:picLocks noChangeAspect="1"/>
          </p:cNvPicPr>
          <p:nvPr/>
        </p:nvPicPr>
        <p:blipFill>
          <a:blip r:embed="rId2"/>
          <a:stretch>
            <a:fillRect/>
          </a:stretch>
        </p:blipFill>
        <p:spPr>
          <a:xfrm>
            <a:off x="1853031" y="1188720"/>
            <a:ext cx="8485632" cy="4773168"/>
          </a:xfrm>
          <a:prstGeom prst="rect">
            <a:avLst/>
          </a:prstGeom>
        </p:spPr>
      </p:pic>
      <p:sp>
        <p:nvSpPr>
          <p:cNvPr id="6" name="TextBox 5"/>
          <p:cNvSpPr txBox="1"/>
          <p:nvPr/>
        </p:nvSpPr>
        <p:spPr>
          <a:xfrm>
            <a:off x="685800" y="6108192"/>
            <a:ext cx="10789920" cy="502920"/>
          </a:xfrm>
          <a:prstGeom prst="rect">
            <a:avLst/>
          </a:prstGeom>
          <a:noFill/>
        </p:spPr>
        <p:txBody>
          <a:bodyPr wrap="square" lIns="0" rIns="0" tIns="0" bIns="0">
            <a:spAutoFit/>
          </a:bodyPr>
          <a:lstStyle/>
          <a:p>
            <a:pPr>
              <a:spcAft>
                <a:spcPts val="600"/>
              </a:spcAft>
            </a:pPr>
            <a:r>
              <a:rPr sz="1300" b="0">
                <a:solidFill>
                  <a:srgbClr val="8896B0"/>
                </a:solidFill>
                <a:latin typeface="Arial"/>
              </a:rPr>
              <a:t>Request → spec checksum → template version → code checksum → artifact version. Packaging is byte-reproducible: the zip uses a fixed timestamp, not the clock.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DESIGN · INTERFACE</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Why the UI looks like a conversation</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The interaction is a dialogue, so the interface is one</a:t>
            </a:r>
          </a:p>
          <a:p>
            <a:pPr>
              <a:spcAft>
                <a:spcPts val="1600"/>
              </a:spcAft>
            </a:pPr>
            <a:r>
              <a:rPr sz="1450" b="0">
                <a:solidFill>
                  <a:srgbClr val="8896B0"/>
                </a:solidFill>
                <a:latin typeface="Arial"/>
              </a:rPr>
              <a:t>The agent asks when it is unsure. A form cannot do that; a thread can.</a:t>
            </a:r>
          </a:p>
          <a:p>
            <a:pPr>
              <a:spcAft>
                <a:spcPts val="300"/>
              </a:spcAft>
            </a:pPr>
            <a:r>
              <a:rPr sz="1700" b="1">
                <a:solidFill>
                  <a:srgbClr val="E8EDF5"/>
                </a:solidFill>
                <a:latin typeface="Arial"/>
              </a:rPr>
              <a:t>Evidence sits beside the conversation, not inside it</a:t>
            </a:r>
          </a:p>
          <a:p>
            <a:pPr>
              <a:spcAft>
                <a:spcPts val="1600"/>
              </a:spcAft>
            </a:pPr>
            <a:r>
              <a:rPr sz="1450" b="0">
                <a:solidFill>
                  <a:srgbClr val="8896B0"/>
                </a:solidFill>
                <a:latin typeface="Arial"/>
              </a:rPr>
              <a:t>Standards, code, connection and artifact live in a persistent right-hand panel, so a reviewer can check the output without losing the thread.</a:t>
            </a:r>
          </a:p>
          <a:p>
            <a:pPr>
              <a:spcAft>
                <a:spcPts val="300"/>
              </a:spcAft>
            </a:pPr>
            <a:r>
              <a:rPr sz="1700" b="1">
                <a:solidFill>
                  <a:srgbClr val="E8EDF5"/>
                </a:solidFill>
                <a:latin typeface="Arial"/>
              </a:rPr>
              <a:t>The server owns state; the thread is a log of how it was reached</a:t>
            </a:r>
          </a:p>
          <a:p>
            <a:pPr>
              <a:spcAft>
                <a:spcPts val="1600"/>
              </a:spcAft>
            </a:pPr>
            <a:r>
              <a:rPr sz="1450" b="0">
                <a:solidFill>
                  <a:srgbClr val="8896B0"/>
                </a:solidFill>
                <a:latin typeface="Arial"/>
              </a:rPr>
              <a:t>Reopening a request replays it from stored state rather than a saved transcript — the backend stores state, not conversation, and pretending otherwise would drift.</a:t>
            </a:r>
          </a:p>
        </p:txBody>
      </p:sp>
      <p:sp>
        <p:nvSpPr>
          <p:cNvPr id="7" name="TextBox 6"/>
          <p:cNvSpPr txBox="1"/>
          <p:nvPr/>
        </p:nvSpPr>
        <p:spPr>
          <a:xfrm>
            <a:off x="685800" y="598932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React 18 + TypeScript · built to static files · served by the API process · no CORS anywhere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HONEST ASSESSMENT</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What is deliberately not built yet</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85800" y="2011680"/>
          <a:ext cx="10789920" cy="365760"/>
        </p:xfrm>
        <a:graphic>
          <a:graphicData uri="http://schemas.openxmlformats.org/drawingml/2006/table">
            <a:tbl>
              <a:tblPr firstRow="1" bandRow="1">
                <a:tableStyleId>{5C22544A-7EE6-4342-B048-85BDC9FD1C3A}</a:tableStyleId>
              </a:tblPr>
              <a:tblGrid>
                <a:gridCol w="3596640"/>
                <a:gridCol w="3596640"/>
                <a:gridCol w="3596640"/>
              </a:tblGrid>
              <a:tr h="52251">
                <a:tc>
                  <a:txBody>
                    <a:bodyPr/>
                    <a:lstStyle/>
                    <a:p>
                      <a:r>
                        <a:rPr sz="1200" b="1">
                          <a:solidFill>
                            <a:srgbClr val="8896B0"/>
                          </a:solidFill>
                          <a:latin typeface="Courier New"/>
                        </a:rPr>
                        <a:t>Gap</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200" b="1">
                          <a:solidFill>
                            <a:srgbClr val="8896B0"/>
                          </a:solidFill>
                          <a:latin typeface="Courier New"/>
                        </a:rPr>
                        <a:t>Current state</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200" b="1">
                          <a:solidFill>
                            <a:srgbClr val="8896B0"/>
                          </a:solidFill>
                          <a:latin typeface="Courier New"/>
                        </a:rPr>
                        <a:t>What it needs</a:t>
                      </a:r>
                    </a:p>
                  </a:txBody>
                  <a:tcPr anchor="ctr">
                    <a:solidFill>
                      <a:srgbClr val="111827"/>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Authentication</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None on the API</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Anyone reaching the port can generate and test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Persistence</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In-memory dict</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Object storage keyed by code checksum + Postgres metadata</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Audit trail</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Per-request activity log</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Who tested which target, durably</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Egress control</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Unrestricted</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The same sandbox inside a container, allowlisted</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1">
                <a:tc>
                  <a:txBody>
                    <a:bodyPr/>
                    <a:lstStyle/>
                    <a:p>
                      <a:r>
                        <a:rPr sz="1300" b="1">
                          <a:solidFill>
                            <a:srgbClr val="E8EDF5"/>
                          </a:solidFill>
                          <a:latin typeface="Arial"/>
                        </a:rPr>
                        <a:t>Auth methods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2 of 6 have templates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OAuth2 needs token caching the shape lacks</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r h="52254">
                <a:tc>
                  <a:txBody>
                    <a:bodyPr/>
                    <a:lstStyle/>
                    <a:p>
                      <a:r>
                        <a:rPr sz="1300" b="1">
                          <a:solidFill>
                            <a:srgbClr val="E8EDF5"/>
                          </a:solidFill>
                          <a:latin typeface="Arial"/>
                        </a:rPr>
                        <a:t>Concurrency</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Single worker</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c>
                  <a:txBody>
                    <a:bodyPr/>
                    <a:lstStyle/>
                    <a:p>
                      <a:r>
                        <a:rPr sz="1300" b="0">
                          <a:solidFill>
                            <a:srgbClr val="8896B0"/>
                          </a:solidFill>
                          <a:latin typeface="Arial"/>
                        </a:rPr>
                        <a:t>Falls out of the persistence work</a:t>
                      </a:r>
                    </a:p>
                  </a:txBody>
                  <a:tcPr anchor="ctr">
                    <a:solidFill>
                      <a:srgbClr val="0A0F1C"/>
                    </a:solidFill>
                    <a:lnL w="12700" cap="flat">
                      <a:solidFill>
                        <a:srgbClr val="1F2A40"/>
                      </a:solidFill>
                    </a:lnL>
                    <a:lnR w="12700" cap="flat">
                      <a:solidFill>
                        <a:srgbClr val="1F2A40"/>
                      </a:solidFill>
                    </a:lnR>
                    <a:lnT w="12700" cap="flat">
                      <a:solidFill>
                        <a:srgbClr val="1F2A40"/>
                      </a:solidFill>
                    </a:lnT>
                    <a:lnB w="12700" cap="flat">
                      <a:solidFill>
                        <a:srgbClr val="1F2A40"/>
                      </a:solidFill>
                    </a:lnB>
                  </a:tcPr>
                </a:tc>
              </a:tr>
            </a:tbl>
          </a:graphicData>
        </a:graphic>
      </p:graphicFrame>
      <p:sp>
        <p:nvSpPr>
          <p:cNvPr id="7" name="TextBox 6"/>
          <p:cNvSpPr txBox="1"/>
          <p:nvPr/>
        </p:nvSpPr>
        <p:spPr>
          <a:xfrm>
            <a:off x="685800" y="594360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A design note that lists only strengths is a sales sheet.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058400" cy="274320"/>
          </a:xfrm>
          <a:prstGeom prst="rect">
            <a:avLst/>
          </a:prstGeom>
          <a:noFill/>
        </p:spPr>
        <p:txBody>
          <a:bodyPr wrap="square" lIns="0" rIns="0" tIns="0" bIns="0">
            <a:spAutoFit/>
          </a:bodyPr>
          <a:lstStyle/>
          <a:p>
            <a:pPr>
              <a:spcAft>
                <a:spcPts val="600"/>
              </a:spcAft>
            </a:pPr>
            <a:r>
              <a:rPr sz="1100" b="1">
                <a:solidFill>
                  <a:srgbClr val="4B5975"/>
                </a:solidFill>
                <a:latin typeface="Courier New"/>
              </a:rPr>
              <a:t>ROADMAP</a:t>
            </a:r>
          </a:p>
        </p:txBody>
      </p:sp>
      <p:sp>
        <p:nvSpPr>
          <p:cNvPr id="4" name="TextBox 3"/>
          <p:cNvSpPr txBox="1"/>
          <p:nvPr/>
        </p:nvSpPr>
        <p:spPr>
          <a:xfrm>
            <a:off x="685800" y="777240"/>
            <a:ext cx="10789920" cy="914400"/>
          </a:xfrm>
          <a:prstGeom prst="rect">
            <a:avLst/>
          </a:prstGeom>
          <a:noFill/>
        </p:spPr>
        <p:txBody>
          <a:bodyPr wrap="square" lIns="0" rIns="0" tIns="0" bIns="0">
            <a:spAutoFit/>
          </a:bodyPr>
          <a:lstStyle/>
          <a:p>
            <a:pPr>
              <a:spcAft>
                <a:spcPts val="600"/>
              </a:spcAft>
            </a:pPr>
            <a:r>
              <a:rPr sz="3000" b="1">
                <a:solidFill>
                  <a:srgbClr val="E8EDF5"/>
                </a:solidFill>
                <a:latin typeface="Arial"/>
              </a:rPr>
              <a:t>The next phase: generate MCP servers, not just connectors</a:t>
            </a:r>
          </a:p>
        </p:txBody>
      </p:sp>
      <p:sp>
        <p:nvSpPr>
          <p:cNvPr id="5" name="Rectangle 4"/>
          <p:cNvSpPr/>
          <p:nvPr/>
        </p:nvSpPr>
        <p:spPr>
          <a:xfrm>
            <a:off x="685800" y="1691640"/>
            <a:ext cx="10789920" cy="9525"/>
          </a:xfrm>
          <a:prstGeom prst="rect">
            <a:avLst/>
          </a:prstGeom>
          <a:solidFill>
            <a:srgbClr val="1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789920" cy="4023360"/>
          </a:xfrm>
          <a:prstGeom prst="rect">
            <a:avLst/>
          </a:prstGeom>
          <a:noFill/>
        </p:spPr>
        <p:txBody>
          <a:bodyPr wrap="square" lIns="0" rIns="0" tIns="0" bIns="0">
            <a:spAutoFit/>
          </a:bodyPr>
          <a:lstStyle/>
          <a:p>
            <a:pPr>
              <a:spcAft>
                <a:spcPts val="300"/>
              </a:spcAft>
            </a:pPr>
            <a:r>
              <a:rPr sz="1700" b="1">
                <a:solidFill>
                  <a:srgbClr val="E8EDF5"/>
                </a:solidFill>
                <a:latin typeface="Arial"/>
              </a:rPr>
              <a:t>Same sentence, second output target</a:t>
            </a:r>
          </a:p>
          <a:p>
            <a:pPr>
              <a:spcAft>
                <a:spcPts val="1600"/>
              </a:spcAft>
            </a:pPr>
            <a:r>
              <a:rPr sz="1450" b="0">
                <a:solidFill>
                  <a:srgbClr val="8896B0"/>
                </a:solidFill>
                <a:latin typeface="Arial"/>
              </a:rPr>
              <a:t>Describe a database in English; receive a read-only MCP server that any AI client can query — gated by the same standards pipeline.</a:t>
            </a:r>
          </a:p>
          <a:p>
            <a:pPr>
              <a:spcAft>
                <a:spcPts val="300"/>
              </a:spcAft>
            </a:pPr>
            <a:r>
              <a:rPr sz="1700" b="1">
                <a:solidFill>
                  <a:srgbClr val="E8EDF5"/>
                </a:solidFill>
                <a:latin typeface="Arial"/>
              </a:rPr>
              <a:t>The architecture already fits</a:t>
            </a:r>
          </a:p>
          <a:p>
            <a:pPr>
              <a:spcAft>
                <a:spcPts val="1600"/>
              </a:spcAft>
            </a:pPr>
            <a:r>
              <a:rPr sz="1450" b="0">
                <a:solidFill>
                  <a:srgbClr val="8896B0"/>
                </a:solidFill>
                <a:latin typeface="Arial"/>
              </a:rPr>
              <a:t>The registry is versioned and pluggable, the checks are a list, and the sandbox already spawns a subprocess and parses structured JSON from its stdout — which is most of what speaking MCP over stdio requires.</a:t>
            </a:r>
          </a:p>
          <a:p>
            <a:pPr>
              <a:spcAft>
                <a:spcPts val="300"/>
              </a:spcAft>
            </a:pPr>
            <a:r>
              <a:rPr sz="1700" b="1">
                <a:solidFill>
                  <a:srgbClr val="E8EDF5"/>
                </a:solidFill>
                <a:latin typeface="Arial"/>
              </a:rPr>
              <a:t>It needs checks a connector does not</a:t>
            </a:r>
          </a:p>
          <a:p>
            <a:pPr>
              <a:spcAft>
                <a:spcPts val="1600"/>
              </a:spcAft>
            </a:pPr>
            <a:r>
              <a:rPr sz="1450" b="0">
                <a:solidFill>
                  <a:srgbClr val="8896B0"/>
                </a:solidFill>
                <a:latin typeface="Arial"/>
              </a:rPr>
              <a:t>A tool's docstring is the description the model reads. An unbounded SELECT fills acontext window rather than crashing. A query(sql) tool hands arbitrary SQL to a model.</a:t>
            </a:r>
          </a:p>
        </p:txBody>
      </p:sp>
      <p:sp>
        <p:nvSpPr>
          <p:cNvPr id="7" name="TextBox 6"/>
          <p:cNvSpPr txBox="1"/>
          <p:nvPr/>
        </p:nvSpPr>
        <p:spPr>
          <a:xfrm>
            <a:off x="685800" y="5989320"/>
            <a:ext cx="10789920" cy="548640"/>
          </a:xfrm>
          <a:prstGeom prst="rect">
            <a:avLst/>
          </a:prstGeom>
          <a:noFill/>
        </p:spPr>
        <p:txBody>
          <a:bodyPr wrap="square" lIns="0" rIns="0" tIns="0" bIns="0">
            <a:spAutoFit/>
          </a:bodyPr>
          <a:lstStyle/>
          <a:p>
            <a:pPr>
              <a:spcAft>
                <a:spcPts val="600"/>
              </a:spcAft>
            </a:pPr>
            <a:r>
              <a:rPr sz="1250" b="0">
                <a:solidFill>
                  <a:srgbClr val="8896B0"/>
                </a:solidFill>
                <a:latin typeface="Courier New"/>
              </a:rPr>
              <a:t>Estimated 8–12 days, starting with a half-day spike that makes the rest refutable.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03120"/>
            <a:ext cx="10515600" cy="914400"/>
          </a:xfrm>
          <a:prstGeom prst="rect">
            <a:avLst/>
          </a:prstGeom>
          <a:noFill/>
        </p:spPr>
        <p:txBody>
          <a:bodyPr wrap="square" lIns="0" rIns="0" tIns="0" bIns="0">
            <a:spAutoFit/>
          </a:bodyPr>
          <a:lstStyle/>
          <a:p>
            <a:pPr>
              <a:spcAft>
                <a:spcPts val="600"/>
              </a:spcAft>
            </a:pPr>
            <a:r>
              <a:rPr sz="3800" b="1">
                <a:solidFill>
                  <a:srgbClr val="E8EDF5"/>
                </a:solidFill>
                <a:latin typeface="Arial"/>
              </a:rPr>
              <a:t>The claim, in one line</a:t>
            </a:r>
          </a:p>
        </p:txBody>
      </p:sp>
      <p:sp>
        <p:nvSpPr>
          <p:cNvPr id="4" name="TextBox 3"/>
          <p:cNvSpPr txBox="1"/>
          <p:nvPr/>
        </p:nvSpPr>
        <p:spPr>
          <a:xfrm>
            <a:off x="685800" y="3108960"/>
            <a:ext cx="9601200" cy="2377440"/>
          </a:xfrm>
          <a:prstGeom prst="rect">
            <a:avLst/>
          </a:prstGeom>
          <a:noFill/>
        </p:spPr>
        <p:txBody>
          <a:bodyPr wrap="square" lIns="0" rIns="0" tIns="0" bIns="0">
            <a:spAutoFit/>
          </a:bodyPr>
          <a:lstStyle/>
          <a:p>
            <a:pPr>
              <a:spcAft>
                <a:spcPts val="1400"/>
              </a:spcAft>
            </a:pPr>
            <a:r>
              <a:rPr sz="1700" b="0">
                <a:solidFill>
                  <a:srgbClr val="8896B0"/>
                </a:solidFill>
                <a:latin typeface="Arial"/>
              </a:rPr>
              <a:t>The model reads intent. The template writes the code. The checker decides what ships.</a:t>
            </a:r>
          </a:p>
          <a:p>
            <a:pPr>
              <a:spcAft>
                <a:spcPts val="1400"/>
              </a:spcAft>
            </a:pPr>
          </a:p>
          <a:p>
            <a:pPr>
              <a:spcAft>
                <a:spcPts val="1400"/>
              </a:spcAft>
            </a:pPr>
            <a:r>
              <a:rPr sz="1700" b="0">
                <a:solidFill>
                  <a:srgbClr val="8896B0"/>
                </a:solidFill>
                <a:latin typeface="Arial"/>
              </a:rPr>
              <a:t>That separation is what turns a demo into something you could put in front of a review board — and it is why the guarantee holds for the next connector, not just this one.</a:t>
            </a:r>
          </a:p>
        </p:txBody>
      </p:sp>
      <p:sp>
        <p:nvSpPr>
          <p:cNvPr id="5" name="TextBox 4"/>
          <p:cNvSpPr txBox="1"/>
          <p:nvPr/>
        </p:nvSpPr>
        <p:spPr>
          <a:xfrm>
            <a:off x="685800" y="5943600"/>
            <a:ext cx="10515600" cy="457200"/>
          </a:xfrm>
          <a:prstGeom prst="rect">
            <a:avLst/>
          </a:prstGeom>
          <a:noFill/>
        </p:spPr>
        <p:txBody>
          <a:bodyPr wrap="square" lIns="0" rIns="0" tIns="0" bIns="0">
            <a:spAutoFit/>
          </a:bodyPr>
          <a:lstStyle/>
          <a:p>
            <a:pPr>
              <a:spcAft>
                <a:spcPts val="600"/>
              </a:spcAft>
            </a:pPr>
            <a:r>
              <a:rPr sz="1200" b="0">
                <a:solidFill>
                  <a:srgbClr val="4B5975"/>
                </a:solidFill>
                <a:latin typeface="Courier New"/>
              </a:rPr>
              <a:t>280 tests · 13 standards checks · 4 source types · 100% conformance on accepted artifacts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