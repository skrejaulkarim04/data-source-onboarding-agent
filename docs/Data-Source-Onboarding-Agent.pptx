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95728"/>
            <a:ext cx="82296" cy="1371600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286000"/>
            <a:ext cx="105156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4600" b="1">
                <a:solidFill>
                  <a:srgbClr val="E8EDF5"/>
                </a:solidFill>
                <a:latin typeface="Arial"/>
              </a:rPr>
              <a:t>Data Source Onboarding Agent</a:t>
            </a:r>
          </a:p>
          <a:p>
            <a:pPr>
              <a:spcAft>
                <a:spcPts val="0"/>
              </a:spcAft>
            </a:pPr>
            <a:r>
              <a:rPr sz="1900" b="0">
                <a:solidFill>
                  <a:srgbClr val="8896B0"/>
                </a:solidFill>
                <a:latin typeface="Arial"/>
              </a:rPr>
              <a:t>Plain English in. A validated, standards-compliant, versioned Python connector out.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9436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4B5975"/>
                </a:solidFill>
                <a:latin typeface="Courier New"/>
              </a:rPr>
              <a:t>natural language → spec → generated code → machine-checked → proven against a live database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4B5975"/>
                </a:solidFill>
                <a:latin typeface="Courier New"/>
              </a:rPr>
              <a:t>BUSINESS 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700" b="1">
                <a:solidFill>
                  <a:srgbClr val="E8EDF5"/>
                </a:solidFill>
                <a:latin typeface="Arial"/>
              </a:rPr>
              <a:t>The repetition is where the risk lives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10241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8896B0"/>
                </a:solidFill>
                <a:latin typeface="Arial"/>
              </a:rPr>
              <a:t>The cost is not writing one connector — it is writing the fortieth, where the same five methods get re-derived slightly differently and the standards hold only as well as the reviewer's attention that afternoon.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249424"/>
          <a:ext cx="1078992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640"/>
                <a:gridCol w="3596640"/>
                <a:gridCol w="3596640"/>
              </a:tblGrid>
              <a:tr h="60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8896B0"/>
                          </a:solidFill>
                          <a:latin typeface="Courier New"/>
                        </a:rPr>
                        <a:t>Step in onboarding</a:t>
                      </a:r>
                    </a:p>
                  </a:txBody>
                  <a:tcPr anchor="ctr">
                    <a:solidFill>
                      <a:srgbClr val="111827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8896B0"/>
                          </a:solidFill>
                          <a:latin typeface="Courier New"/>
                        </a:rPr>
                        <a:t>Today</a:t>
                      </a:r>
                    </a:p>
                  </a:txBody>
                  <a:tcPr anchor="ctr">
                    <a:solidFill>
                      <a:srgbClr val="111827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8896B0"/>
                          </a:solidFill>
                          <a:latin typeface="Courier New"/>
                        </a:rPr>
                        <a:t>With the agent</a:t>
                      </a:r>
                    </a:p>
                  </a:txBody>
                  <a:tcPr anchor="ctr">
                    <a:solidFill>
                      <a:srgbClr val="111827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  <a:tr h="609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EDF5"/>
                          </a:solidFill>
                          <a:latin typeface="Arial"/>
                        </a:rPr>
                        <a:t>Capture the requirement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A ticket, then a clarifying thread over days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Plain English; the gaps are asked about in the same session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  <a:tr h="609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EDF5"/>
                          </a:solidFill>
                          <a:latin typeface="Arial"/>
                        </a:rPr>
                        <a:t>Write the connector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Hand-written per source, per engineer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Rendered from a reviewed spec — identical every time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  <a:tr h="609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EDF5"/>
                          </a:solidFill>
                          <a:latin typeface="Arial"/>
                        </a:rPr>
                        <a:t>Enforce the standards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Code review, after the code already exists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13 machine checks, before it can be accepted at all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  <a:tr h="609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EDF5"/>
                          </a:solidFill>
                          <a:latin typeface="Arial"/>
                        </a:rPr>
                        <a:t>Prove it connects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Run it locally and hope the target matches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Sandboxed test against the real database, recorded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  <a:tr h="609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EDF5"/>
                          </a:solidFill>
                          <a:latin typeface="Arial"/>
                        </a:rPr>
                        <a:t>Answer “why is this in production?”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Ask whoever wrote it, if they still work here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A manifest chaining request → spec → template → checksum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4360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>
                <a:solidFill>
                  <a:srgbClr val="8896B0"/>
                </a:solidFill>
                <a:latin typeface="Courier New"/>
              </a:rPr>
              <a:t>Requesting team: self-service · Engineering: reviews a diff, not a blank file · Security: credentials structurally excluded · Audit: every artifact traceable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4B5975"/>
                </a:solidFill>
                <a:latin typeface="Courier New"/>
              </a:rPr>
              <a:t>THE CORE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E8EDF5"/>
                </a:solidFill>
                <a:latin typeface="Arial"/>
              </a:rPr>
              <a:t>Reliability comes from constraint, not from prompting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91640"/>
            <a:ext cx="10789920" cy="9525"/>
          </a:xfrm>
          <a:prstGeom prst="rect">
            <a:avLst/>
          </a:prstGeom>
          <a:solidFill>
            <a:srgbClr val="1F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1078992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The model never writes the code</a:t>
            </a:r>
          </a:p>
          <a:p>
            <a:pPr>
              <a:spcAft>
                <a:spcPts val="1600"/>
              </a:spcAft>
            </a:pPr>
            <a:r>
              <a:rPr sz="1450" b="0">
                <a:solidFill>
                  <a:srgbClr val="8896B0"/>
                </a:solidFill>
                <a:latin typeface="Arial"/>
              </a:rPr>
              <a:t>It fills a structured spec — schema-enforced, so it selects from closed sets rather than inventing strings. A Jinja2 template renders the connector, deterministically: same spec in, same bytes out.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13 machine checks decide what ships</a:t>
            </a:r>
          </a:p>
          <a:p>
            <a:pPr>
              <a:spcAft>
                <a:spcPts val="1600"/>
              </a:spcAft>
            </a:pPr>
            <a:r>
              <a:rPr sz="1450" b="0">
                <a:solidFill>
                  <a:srgbClr val="8896B0"/>
                </a:solidFill>
                <a:latin typeface="Arial"/>
              </a:rPr>
              <a:t>no-hardcoded-credentials · no-dynamic-sql · env-for-secrets · no-dangerous-calls · type-hints · docstrings, and seven more — read from the parsed syntax tree, never by importing the code, because importing runs it.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Repair is bounded and cannot regress</a:t>
            </a:r>
          </a:p>
          <a:p>
            <a:pPr>
              <a:spcAft>
                <a:spcPts val="1600"/>
              </a:spcAft>
            </a:pPr>
            <a:r>
              <a:rPr sz="1450" b="0">
                <a:solidFill>
                  <a:srgbClr val="8896B0"/>
                </a:solidFill>
                <a:latin typeface="Arial"/>
              </a:rPr>
              <a:t>At most three attempts, and a candidate is adopted only if it strictly reduces the error count. A rejected connector is still returned, with its findings, so a reviewer can see exactly what went wrong.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Secrets cannot reach the artifact</a:t>
            </a:r>
          </a:p>
          <a:p>
            <a:pPr>
              <a:spcAft>
                <a:spcPts val="1600"/>
              </a:spcAft>
            </a:pPr>
            <a:r>
              <a:rPr sz="1450" b="0">
                <a:solidFill>
                  <a:srgbClr val="8896B0"/>
                </a:solidFill>
                <a:latin typeface="Arial"/>
              </a:rPr>
              <a:t>Credentials are scrubbed from the request before the model sees it, two checks make a literal credential a rejection, and the manifest records the environment variables by name only — never their values.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98932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>
                <a:solidFill>
                  <a:srgbClr val="8896B0"/>
                </a:solidFill>
                <a:latin typeface="Courier New"/>
              </a:rPr>
              <a:t>A checker that has only ever seen good input has demonstrated nothing — so the suite injects faults on purpose.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4B5975"/>
                </a:solidFill>
                <a:latin typeface="Courier New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E8EDF5"/>
                </a:solidFill>
                <a:latin typeface="Arial"/>
              </a:rPr>
              <a:t>One request, five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18470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B5975"/>
                </a:solidFill>
                <a:latin typeface="Courier New"/>
              </a:rPr>
              <a:t>POST /api/requests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49424"/>
            <a:ext cx="2011680" cy="1170432"/>
          </a:xfrm>
          <a:prstGeom prst="rect">
            <a:avLst/>
          </a:prstGeom>
          <a:solidFill>
            <a:srgbClr val="111827"/>
          </a:solidFill>
          <a:ln w="15875">
            <a:solidFill>
              <a:srgbClr val="1F2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2377440"/>
            <a:ext cx="179222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Extract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743200"/>
            <a:ext cx="179222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>
                <a:solidFill>
                  <a:srgbClr val="8896B0"/>
                </a:solidFill>
                <a:latin typeface="Courier New"/>
              </a:rPr>
              <a:t>SpecExtractor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8896B0"/>
                </a:solidFill>
                <a:latin typeface="Courier New"/>
              </a:rPr>
              <a:t>.extract()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3547872"/>
            <a:ext cx="179222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>
                <a:solidFill>
                  <a:srgbClr val="4B5975"/>
                </a:solidFill>
                <a:latin typeface="Courier New"/>
              </a:rPr>
              <a:t>SpecDraft + questions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715768" y="2834640"/>
            <a:ext cx="146304" cy="0"/>
          </a:xfrm>
          <a:prstGeom prst="line">
            <a:avLst/>
          </a:prstGeom>
          <a:ln w="19050">
            <a:solidFill>
              <a:srgbClr val="8896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691640" y="3895344"/>
            <a:ext cx="0" cy="676656"/>
          </a:xfrm>
          <a:prstGeom prst="line">
            <a:avLst/>
          </a:prstGeom>
          <a:ln w="12700">
            <a:solidFill>
              <a:srgbClr val="1F2A4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85800" y="4572000"/>
            <a:ext cx="2011680" cy="566928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60A5FA"/>
                </a:solidFill>
                <a:latin typeface="Arial"/>
              </a:rPr>
              <a:t>always — 1 call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90088" y="18470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B5975"/>
                </a:solidFill>
                <a:latin typeface="Courier New"/>
              </a:rPr>
              <a:t>POST …/answers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80360" y="2249424"/>
            <a:ext cx="2011680" cy="1170432"/>
          </a:xfrm>
          <a:prstGeom prst="rect">
            <a:avLst/>
          </a:prstGeom>
          <a:solidFill>
            <a:srgbClr val="111827"/>
          </a:solidFill>
          <a:ln w="15875">
            <a:solidFill>
              <a:srgbClr val="1F2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90088" y="2377440"/>
            <a:ext cx="179222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Refine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0088" y="2743200"/>
            <a:ext cx="179222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>
                <a:solidFill>
                  <a:srgbClr val="8896B0"/>
                </a:solidFill>
                <a:latin typeface="Courier New"/>
              </a:rPr>
              <a:t>SpecExtractor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8896B0"/>
                </a:solidFill>
                <a:latin typeface="Courier New"/>
              </a:rPr>
              <a:t>.refine()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0088" y="3547872"/>
            <a:ext cx="179222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>
                <a:solidFill>
                  <a:srgbClr val="4B5975"/>
                </a:solidFill>
                <a:latin typeface="Courier New"/>
              </a:rPr>
              <a:t>SpecDraft (complete)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910328" y="2834640"/>
            <a:ext cx="146304" cy="0"/>
          </a:xfrm>
          <a:prstGeom prst="line">
            <a:avLst/>
          </a:prstGeom>
          <a:ln w="19050">
            <a:solidFill>
              <a:srgbClr val="8896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886200" y="3895344"/>
            <a:ext cx="0" cy="676656"/>
          </a:xfrm>
          <a:prstGeom prst="line">
            <a:avLst/>
          </a:prstGeom>
          <a:ln w="12700">
            <a:solidFill>
              <a:srgbClr val="1F2A4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2880360" y="4572000"/>
            <a:ext cx="2011680" cy="566928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4B59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4B5975"/>
                </a:solidFill>
                <a:latin typeface="Arial"/>
              </a:rPr>
              <a:t>never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84648" y="18470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B5975"/>
                </a:solidFill>
                <a:latin typeface="Courier New"/>
              </a:rPr>
              <a:t>POST …/generate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74920" y="2249424"/>
            <a:ext cx="2011680" cy="1170432"/>
          </a:xfrm>
          <a:prstGeom prst="rect">
            <a:avLst/>
          </a:prstGeom>
          <a:solidFill>
            <a:srgbClr val="111827"/>
          </a:solidFill>
          <a:ln w="15875">
            <a:solidFill>
              <a:srgbClr val="1F2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84648" y="2377440"/>
            <a:ext cx="179222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Generate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84648" y="2743200"/>
            <a:ext cx="179222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>
                <a:solidFill>
                  <a:srgbClr val="8896B0"/>
                </a:solidFill>
                <a:latin typeface="Courier New"/>
              </a:rPr>
              <a:t>ConnectorGenerator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8896B0"/>
                </a:solidFill>
                <a:latin typeface="Courier New"/>
              </a:rPr>
              <a:t>.generate()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84648" y="3547872"/>
            <a:ext cx="179222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>
                <a:solidFill>
                  <a:srgbClr val="4B5975"/>
                </a:solidFill>
                <a:latin typeface="Courier New"/>
              </a:rPr>
              <a:t>GeneratedConnector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104888" y="2834640"/>
            <a:ext cx="146304" cy="0"/>
          </a:xfrm>
          <a:prstGeom prst="line">
            <a:avLst/>
          </a:prstGeom>
          <a:ln w="19050">
            <a:solidFill>
              <a:srgbClr val="8896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80760" y="3895344"/>
            <a:ext cx="0" cy="676656"/>
          </a:xfrm>
          <a:prstGeom prst="line">
            <a:avLst/>
          </a:prstGeom>
          <a:ln w="12700">
            <a:solidFill>
              <a:srgbClr val="1F2A4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5074920" y="4572000"/>
            <a:ext cx="2011680" cy="566928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60A5FA"/>
                </a:solidFill>
                <a:latin typeface="Arial"/>
              </a:rPr>
              <a:t>only on failure / docs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79208" y="18470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B5975"/>
                </a:solidFill>
                <a:latin typeface="Courier New"/>
              </a:rPr>
              <a:t>POST …/test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69480" y="2249424"/>
            <a:ext cx="2011680" cy="1170432"/>
          </a:xfrm>
          <a:prstGeom prst="rect">
            <a:avLst/>
          </a:prstGeom>
          <a:solidFill>
            <a:srgbClr val="111827"/>
          </a:solidFill>
          <a:ln w="15875">
            <a:solidFill>
              <a:srgbClr val="1F2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79208" y="2377440"/>
            <a:ext cx="179222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Test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79208" y="2743200"/>
            <a:ext cx="179222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>
                <a:solidFill>
                  <a:srgbClr val="8896B0"/>
                </a:solidFill>
                <a:latin typeface="Courier New"/>
              </a:rPr>
              <a:t>ConnectionSandbox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8896B0"/>
                </a:solidFill>
                <a:latin typeface="Courier New"/>
              </a:rPr>
              <a:t>.run()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79208" y="3547872"/>
            <a:ext cx="179222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>
                <a:solidFill>
                  <a:srgbClr val="4B5975"/>
                </a:solidFill>
                <a:latin typeface="Courier New"/>
              </a:rPr>
              <a:t>SandboxResult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299448" y="2834640"/>
            <a:ext cx="146304" cy="0"/>
          </a:xfrm>
          <a:prstGeom prst="line">
            <a:avLst/>
          </a:prstGeom>
          <a:ln w="19050">
            <a:solidFill>
              <a:srgbClr val="8896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275320" y="3895344"/>
            <a:ext cx="0" cy="676656"/>
          </a:xfrm>
          <a:prstGeom prst="line">
            <a:avLst/>
          </a:prstGeom>
          <a:ln w="12700">
            <a:solidFill>
              <a:srgbClr val="1F2A4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7269480" y="4572000"/>
            <a:ext cx="2011680" cy="566928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60A5FA"/>
                </a:solidFill>
                <a:latin typeface="Arial"/>
              </a:rPr>
              <a:t>only on failure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73768" y="18470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B5975"/>
                </a:solidFill>
                <a:latin typeface="Courier New"/>
              </a:rPr>
              <a:t>GET …/download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464040" y="2249424"/>
            <a:ext cx="2011680" cy="1170432"/>
          </a:xfrm>
          <a:prstGeom prst="rect">
            <a:avLst/>
          </a:prstGeom>
          <a:solidFill>
            <a:srgbClr val="111827"/>
          </a:solidFill>
          <a:ln w="15875">
            <a:solidFill>
              <a:srgbClr val="1F2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573768" y="2377440"/>
            <a:ext cx="179222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Deliver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73768" y="2743200"/>
            <a:ext cx="179222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>
                <a:solidFill>
                  <a:srgbClr val="8896B0"/>
                </a:solidFill>
                <a:latin typeface="Courier New"/>
              </a:rPr>
              <a:t>Artifact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8896B0"/>
                </a:solidFill>
                <a:latin typeface="Courier New"/>
              </a:rPr>
              <a:t>.to_zip()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73768" y="3547872"/>
            <a:ext cx="179222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>
                <a:solidFill>
                  <a:srgbClr val="4B5975"/>
                </a:solidFill>
                <a:latin typeface="Courier New"/>
              </a:rPr>
              <a:t>bytes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469880" y="3895344"/>
            <a:ext cx="0" cy="676656"/>
          </a:xfrm>
          <a:prstGeom prst="line">
            <a:avLst/>
          </a:prstGeom>
          <a:ln w="12700">
            <a:solidFill>
              <a:srgbClr val="1F2A4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9464040" y="4572000"/>
            <a:ext cx="2011680" cy="566928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4B59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4B5975"/>
                </a:solidFill>
                <a:latin typeface="Arial"/>
              </a:rPr>
              <a:t>never</a:t>
            </a:r>
          </a:p>
        </p:txBody>
      </p:sp>
      <p:sp>
        <p:nvSpPr>
          <p:cNvPr id="44" name="Freeform 43"/>
          <p:cNvSpPr/>
          <p:nvPr/>
        </p:nvSpPr>
        <p:spPr>
          <a:xfrm>
            <a:off x="3363163" y="1975104"/>
            <a:ext cx="1046073" cy="274320"/>
          </a:xfrm>
          <a:custGeom>
            <a:avLst/>
            <a:gdLst/>
            <a:ahLst/>
            <a:cxnLst/>
            <a:rect l="l" t="t" r="r" b="b"/>
            <a:pathLst>
              <a:path w="1046073" h="274320">
                <a:moveTo>
                  <a:pt x="1046073" y="274320"/>
                </a:moveTo>
                <a:lnTo>
                  <a:pt x="1041599" y="238514"/>
                </a:lnTo>
                <a:lnTo>
                  <a:pt x="1028251" y="203320"/>
                </a:lnTo>
                <a:lnTo>
                  <a:pt x="1006259" y="169342"/>
                </a:lnTo>
                <a:lnTo>
                  <a:pt x="976000" y="137160"/>
                </a:lnTo>
                <a:lnTo>
                  <a:pt x="937989" y="107324"/>
                </a:lnTo>
                <a:lnTo>
                  <a:pt x="892879" y="80346"/>
                </a:lnTo>
                <a:lnTo>
                  <a:pt x="841441" y="56687"/>
                </a:lnTo>
                <a:lnTo>
                  <a:pt x="784555" y="36751"/>
                </a:lnTo>
                <a:lnTo>
                  <a:pt x="723194" y="20881"/>
                </a:lnTo>
                <a:lnTo>
                  <a:pt x="658408" y="9347"/>
                </a:lnTo>
                <a:lnTo>
                  <a:pt x="591307" y="2346"/>
                </a:lnTo>
                <a:lnTo>
                  <a:pt x="523037" y="0"/>
                </a:lnTo>
                <a:lnTo>
                  <a:pt x="454766" y="2346"/>
                </a:lnTo>
                <a:lnTo>
                  <a:pt x="387665" y="9347"/>
                </a:lnTo>
                <a:lnTo>
                  <a:pt x="322879" y="20881"/>
                </a:lnTo>
                <a:lnTo>
                  <a:pt x="261518" y="36751"/>
                </a:lnTo>
                <a:lnTo>
                  <a:pt x="204632" y="56687"/>
                </a:lnTo>
                <a:lnTo>
                  <a:pt x="153194" y="80346"/>
                </a:lnTo>
                <a:lnTo>
                  <a:pt x="108084" y="107324"/>
                </a:lnTo>
                <a:lnTo>
                  <a:pt x="70073" y="137160"/>
                </a:lnTo>
                <a:lnTo>
                  <a:pt x="39814" y="169342"/>
                </a:lnTo>
                <a:lnTo>
                  <a:pt x="17822" y="203320"/>
                </a:lnTo>
                <a:lnTo>
                  <a:pt x="4474" y="238514"/>
                </a:lnTo>
                <a:lnTo>
                  <a:pt x="0" y="274320"/>
                </a:lnTo>
              </a:path>
            </a:pathLst>
          </a:custGeom>
          <a:noFill/>
          <a:ln w="15875">
            <a:solidFill>
              <a:srgbClr val="8896B0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31720" y="144475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>
                <a:solidFill>
                  <a:srgbClr val="8896B0"/>
                </a:solidFill>
                <a:latin typeface="Arial"/>
              </a:rPr>
              <a:t>until no questions remain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" y="4242816"/>
            <a:ext cx="10789920" cy="9525"/>
          </a:xfrm>
          <a:prstGeom prst="rect">
            <a:avLst/>
          </a:prstGeom>
          <a:solidFill>
            <a:srgbClr val="1F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5800" y="430682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B5975"/>
                </a:solidFill>
                <a:latin typeface="Courier New"/>
              </a:rPr>
              <a:t>WHERE THE MODEL IS CALLED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5431536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50" b="0">
                <a:solidFill>
                  <a:srgbClr val="8896B0"/>
                </a:solidFill>
                <a:latin typeface="Arial"/>
              </a:rPr>
              <a:t>Answering a clarifying question is deterministic — the answers map onto known fields, so no second extraction can misread what you already settled.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4B5975"/>
                </a:solidFill>
                <a:latin typeface="Courier New"/>
              </a:rPr>
              <a:t>TECHNOLOGY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700" b="1">
                <a:solidFill>
                  <a:srgbClr val="E8EDF5"/>
                </a:solidFill>
                <a:latin typeface="Arial"/>
              </a:rPr>
              <a:t>The stack, and why each piece is there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91640"/>
            <a:ext cx="10789920" cy="9525"/>
          </a:xfrm>
          <a:prstGeom prst="rect">
            <a:avLst/>
          </a:prstGeom>
          <a:solidFill>
            <a:srgbClr val="1F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011680"/>
          <a:ext cx="1078992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640"/>
                <a:gridCol w="3596640"/>
                <a:gridCol w="3596640"/>
              </a:tblGrid>
              <a:tr h="40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8896B0"/>
                          </a:solidFill>
                          <a:latin typeface="Courier New"/>
                        </a:rPr>
                        <a:t>Layer</a:t>
                      </a:r>
                    </a:p>
                  </a:txBody>
                  <a:tcPr anchor="ctr">
                    <a:solidFill>
                      <a:srgbClr val="111827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8896B0"/>
                          </a:solidFill>
                          <a:latin typeface="Courier New"/>
                        </a:rPr>
                        <a:t>Choice</a:t>
                      </a:r>
                    </a:p>
                  </a:txBody>
                  <a:tcPr anchor="ctr">
                    <a:solidFill>
                      <a:srgbClr val="111827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8896B0"/>
                          </a:solidFill>
                          <a:latin typeface="Courier New"/>
                        </a:rPr>
                        <a:t>Why this one</a:t>
                      </a:r>
                    </a:p>
                  </a:txBody>
                  <a:tcPr anchor="ctr">
                    <a:solidFill>
                      <a:srgbClr val="111827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  <a:tr h="40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EDF5"/>
                          </a:solidFill>
                          <a:latin typeface="Arial"/>
                        </a:rPr>
                        <a:t>API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FastAPI + Pydantic v2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Schema validation at the boundary, not in the handlers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  <a:tr h="40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EDF5"/>
                          </a:solidFill>
                          <a:latin typeface="Arial"/>
                        </a:rPr>
                        <a:t>Spec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Pydantic models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Permissive draft, then promotion to a strict spec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  <a:tr h="40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EDF5"/>
                          </a:solidFill>
                          <a:latin typeface="Arial"/>
                        </a:rPr>
                        <a:t>Codegen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Jinja2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Deterministic. The reason the standards guarantee holds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  <a:tr h="40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EDF5"/>
                          </a:solidFill>
                          <a:latin typeface="Arial"/>
                        </a:rPr>
                        <a:t>Validation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ast + ruff + black + bandit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Parsed, never imported — importing runs it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  <a:tr h="40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EDF5"/>
                          </a:solidFill>
                          <a:latin typeface="Arial"/>
                        </a:rPr>
                        <a:t>Database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SQLAlchemy 2.0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One connector shape across three SQL dialects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  <a:tr h="40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EDF5"/>
                          </a:solidFill>
                          <a:latin typeface="Arial"/>
                        </a:rPr>
                        <a:t>Sandbox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subprocess + rlimits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Timeout, memory cap, allowlisted environment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  <a:tr h="40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EDF5"/>
                          </a:solidFill>
                          <a:latin typeface="Arial"/>
                        </a:rPr>
                        <a:t>Front end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React 18 + TypeScript + Vite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Built to static files, served by the same process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  <a:tr h="40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EDF5"/>
                          </a:solidFill>
                          <a:latin typeface="Arial"/>
                        </a:rPr>
                        <a:t>Tests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pytest — 280 of them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Including deliberate fault injection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4360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>
                <a:solidFill>
                  <a:srgbClr val="8896B0"/>
                </a:solidFill>
                <a:latin typeface="Courier New"/>
              </a:rPr>
              <a:t>No orchestration framework. The pipeline is six modules and a function call chain.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4B5975"/>
                </a:solidFill>
                <a:latin typeface="Courier New"/>
              </a:rPr>
              <a:t>THE PRODUCT · 1 OF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E8EDF5"/>
                </a:solidFill>
                <a:latin typeface="Arial"/>
              </a:rPr>
              <a:t>Describe the source in plain English</a:t>
            </a:r>
          </a:p>
        </p:txBody>
      </p:sp>
      <p:pic>
        <p:nvPicPr>
          <p:cNvPr id="5" name="Picture 4" descr="01-welc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3031" y="1188720"/>
            <a:ext cx="8485632" cy="4773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108192"/>
            <a:ext cx="10789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8896B0"/>
                </a:solidFill>
                <a:latin typeface="Arial"/>
              </a:rPr>
              <a:t>No forms, no connection wizard. Three worked examples are built in for a cold start.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4B5975"/>
                </a:solidFill>
                <a:latin typeface="Courier New"/>
              </a:rPr>
              <a:t>THE PRODUCT · 2 OF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E8EDF5"/>
                </a:solidFill>
                <a:latin typeface="Arial"/>
              </a:rPr>
              <a:t>When the request is incomplete, the agent asks</a:t>
            </a:r>
          </a:p>
        </p:txBody>
      </p:sp>
      <p:pic>
        <p:nvPicPr>
          <p:cNvPr id="5" name="Picture 4" descr="02-clar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3031" y="1188720"/>
            <a:ext cx="8485632" cy="4773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108192"/>
            <a:ext cx="10789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8896B0"/>
                </a:solidFill>
                <a:latin typeface="Arial"/>
              </a:rPr>
              <a:t>Host was never stated, so it is not invented. Confidence drops to 55%, the missing field is named, and the question carries an example.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4B5975"/>
                </a:solidFill>
                <a:latin typeface="Courier New"/>
              </a:rPr>
              <a:t>THE PRODUCT · 3 OF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E8EDF5"/>
                </a:solidFill>
                <a:latin typeface="Arial"/>
              </a:rPr>
              <a:t>Extraction, generation, and the standards gate</a:t>
            </a:r>
          </a:p>
        </p:txBody>
      </p:sp>
      <p:pic>
        <p:nvPicPr>
          <p:cNvPr id="5" name="Picture 4" descr="04-stand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3031" y="1188720"/>
            <a:ext cx="8485632" cy="4773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108192"/>
            <a:ext cx="10789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8896B0"/>
                </a:solidFill>
                <a:latin typeface="Arial"/>
              </a:rPr>
              <a:t>Everything the agent understood is shown for review — including what it assumed. 13 of 13 checks pass, so the artifact is accepted.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4B5975"/>
                </a:solidFill>
                <a:latin typeface="Courier New"/>
              </a:rPr>
              <a:t>THE PRODUCT · 4 OF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E8EDF5"/>
                </a:solidFill>
                <a:latin typeface="Arial"/>
              </a:rPr>
              <a:t>The generated connector</a:t>
            </a:r>
          </a:p>
        </p:txBody>
      </p:sp>
      <p:pic>
        <p:nvPicPr>
          <p:cNvPr id="5" name="Picture 4" descr="05-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3031" y="1188720"/>
            <a:ext cx="8485632" cy="4773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108192"/>
            <a:ext cx="10789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8896B0"/>
                </a:solidFill>
                <a:latin typeface="Arial"/>
              </a:rPr>
              <a:t>Provenance above the code: template version, spec checksum, code checksum, repair count. Written by a template, never by the model.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4B5975"/>
                </a:solidFill>
                <a:latin typeface="Courier New"/>
              </a:rPr>
              <a:t>THE PRODUCT · 5 OF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E8EDF5"/>
                </a:solidFill>
                <a:latin typeface="Arial"/>
              </a:rPr>
              <a:t>Proven against a real database, not just compiled</a:t>
            </a:r>
          </a:p>
        </p:txBody>
      </p:sp>
      <p:pic>
        <p:nvPicPr>
          <p:cNvPr id="5" name="Picture 4" descr="06-conn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3031" y="1188720"/>
            <a:ext cx="8485632" cy="4773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108192"/>
            <a:ext cx="10789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8896B0"/>
                </a:solidFill>
                <a:latin typeface="Arial"/>
              </a:rPr>
              <a:t>Executed in a sandboxed subprocess against live PostgreSQL. Three tables discovered with their primary keys. Credentials are sent once and never stored, logged, or written to the artifact.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4B5975"/>
                </a:solidFill>
                <a:latin typeface="Courier New"/>
              </a:rPr>
              <a:t>THE PRODUCT · 6 OF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E8EDF5"/>
                </a:solidFill>
                <a:latin typeface="Arial"/>
              </a:rPr>
              <a:t>The handover artifact</a:t>
            </a:r>
          </a:p>
        </p:txBody>
      </p:sp>
      <p:pic>
        <p:nvPicPr>
          <p:cNvPr id="5" name="Picture 4" descr="07-artif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3031" y="1188720"/>
            <a:ext cx="8485632" cy="4773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108192"/>
            <a:ext cx="10789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8896B0"/>
                </a:solidFill>
                <a:latin typeface="Arial"/>
              </a:rPr>
              <a:t>Connector, README, requirements, explanation and a manifest, packaged as a versioned zip. The model reads intent; the template writes the code; the checker decides what ships.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